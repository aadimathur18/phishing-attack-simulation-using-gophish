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88"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1" r:id="rId17"/>
    <p:sldId id="272" r:id="rId18"/>
    <p:sldId id="273" r:id="rId19"/>
    <p:sldId id="274" r:id="rId20"/>
    <p:sldId id="275" r:id="rId21"/>
    <p:sldId id="270" r:id="rId22"/>
    <p:sldId id="276" r:id="rId23"/>
    <p:sldId id="277" r:id="rId24"/>
    <p:sldId id="278" r:id="rId25"/>
    <p:sldId id="279" r:id="rId26"/>
    <p:sldId id="280" r:id="rId27"/>
    <p:sldId id="281" r:id="rId28"/>
    <p:sldId id="283" r:id="rId29"/>
    <p:sldId id="284" r:id="rId30"/>
    <p:sldId id="282" r:id="rId31"/>
    <p:sldId id="285" r:id="rId32"/>
    <p:sldId id="286" r:id="rId33"/>
    <p:sldId id="28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526" autoAdjust="0"/>
  </p:normalViewPr>
  <p:slideViewPr>
    <p:cSldViewPr snapToGrid="0">
      <p:cViewPr varScale="1">
        <p:scale>
          <a:sx n="77" d="100"/>
          <a:sy n="77" d="100"/>
        </p:scale>
        <p:origin x="88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8C0D6B-9CED-46E1-A5B0-120C487B5D3D}" type="datetimeFigureOut">
              <a:rPr lang="en-IN" smtClean="0"/>
              <a:t>15-04-2026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80C127-946A-48F3-8F66-D063E9F70271}" type="slidenum">
              <a:rPr lang="en-IN" smtClean="0"/>
              <a:t>‹#›</a:t>
            </a:fld>
            <a:endParaRPr lang="en-IN" dirty="0"/>
          </a:p>
        </p:txBody>
      </p:sp>
    </p:spTree>
    <p:extLst>
      <p:ext uri="{BB962C8B-B14F-4D97-AF65-F5344CB8AC3E}">
        <p14:creationId xmlns:p14="http://schemas.microsoft.com/office/powerpoint/2010/main" val="2019220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C80C127-946A-48F3-8F66-D063E9F70271}" type="slidenum">
              <a:rPr lang="en-IN" smtClean="0"/>
              <a:t>2</a:t>
            </a:fld>
            <a:endParaRPr lang="en-IN" dirty="0"/>
          </a:p>
        </p:txBody>
      </p:sp>
    </p:spTree>
    <p:extLst>
      <p:ext uri="{BB962C8B-B14F-4D97-AF65-F5344CB8AC3E}">
        <p14:creationId xmlns:p14="http://schemas.microsoft.com/office/powerpoint/2010/main" val="255167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C80C127-946A-48F3-8F66-D063E9F70271}" type="slidenum">
              <a:rPr lang="en-IN" smtClean="0"/>
              <a:t>20</a:t>
            </a:fld>
            <a:endParaRPr lang="en-IN" dirty="0"/>
          </a:p>
        </p:txBody>
      </p:sp>
    </p:spTree>
    <p:extLst>
      <p:ext uri="{BB962C8B-B14F-4D97-AF65-F5344CB8AC3E}">
        <p14:creationId xmlns:p14="http://schemas.microsoft.com/office/powerpoint/2010/main" val="3563427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C80C127-946A-48F3-8F66-D063E9F70271}" type="slidenum">
              <a:rPr lang="en-IN" smtClean="0"/>
              <a:t>31</a:t>
            </a:fld>
            <a:endParaRPr lang="en-IN" dirty="0"/>
          </a:p>
        </p:txBody>
      </p:sp>
    </p:spTree>
    <p:extLst>
      <p:ext uri="{BB962C8B-B14F-4D97-AF65-F5344CB8AC3E}">
        <p14:creationId xmlns:p14="http://schemas.microsoft.com/office/powerpoint/2010/main" val="543018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C2428703-C59E-4AEA-BC88-7EACFB72137E}" type="datetimeFigureOut">
              <a:rPr lang="en-IN" smtClean="0"/>
              <a:t>15-04-2026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1F41067-7826-491A-ABD7-1467CEA69020}" type="slidenum">
              <a:rPr lang="en-IN" smtClean="0"/>
              <a:t>‹#›</a:t>
            </a:fld>
            <a:endParaRPr lang="en-IN" dirty="0"/>
          </a:p>
        </p:txBody>
      </p:sp>
    </p:spTree>
    <p:extLst>
      <p:ext uri="{BB962C8B-B14F-4D97-AF65-F5344CB8AC3E}">
        <p14:creationId xmlns:p14="http://schemas.microsoft.com/office/powerpoint/2010/main" val="2562420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2428703-C59E-4AEA-BC88-7EACFB72137E}" type="datetimeFigureOut">
              <a:rPr lang="en-IN" smtClean="0"/>
              <a:t>15-04-2026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1F41067-7826-491A-ABD7-1467CEA69020}" type="slidenum">
              <a:rPr lang="en-IN" smtClean="0"/>
              <a:t>‹#›</a:t>
            </a:fld>
            <a:endParaRPr lang="en-IN" dirty="0"/>
          </a:p>
        </p:txBody>
      </p:sp>
    </p:spTree>
    <p:extLst>
      <p:ext uri="{BB962C8B-B14F-4D97-AF65-F5344CB8AC3E}">
        <p14:creationId xmlns:p14="http://schemas.microsoft.com/office/powerpoint/2010/main" val="122313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2428703-C59E-4AEA-BC88-7EACFB72137E}" type="datetimeFigureOut">
              <a:rPr lang="en-IN" smtClean="0"/>
              <a:t>15-04-2026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1F41067-7826-491A-ABD7-1467CEA69020}" type="slidenum">
              <a:rPr lang="en-IN" smtClean="0"/>
              <a:t>‹#›</a:t>
            </a:fld>
            <a:endParaRPr lang="en-IN" dirty="0"/>
          </a:p>
        </p:txBody>
      </p:sp>
    </p:spTree>
    <p:extLst>
      <p:ext uri="{BB962C8B-B14F-4D97-AF65-F5344CB8AC3E}">
        <p14:creationId xmlns:p14="http://schemas.microsoft.com/office/powerpoint/2010/main" val="862286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C2428703-C59E-4AEA-BC88-7EACFB72137E}" type="datetimeFigureOut">
              <a:rPr lang="en-IN" smtClean="0"/>
              <a:t>15-04-2026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1F41067-7826-491A-ABD7-1467CEA69020}" type="slidenum">
              <a:rPr lang="en-IN" smtClean="0"/>
              <a:t>‹#›</a:t>
            </a:fld>
            <a:endParaRPr lang="en-IN" dirty="0"/>
          </a:p>
        </p:txBody>
      </p:sp>
    </p:spTree>
    <p:extLst>
      <p:ext uri="{BB962C8B-B14F-4D97-AF65-F5344CB8AC3E}">
        <p14:creationId xmlns:p14="http://schemas.microsoft.com/office/powerpoint/2010/main" val="3759584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2428703-C59E-4AEA-BC88-7EACFB72137E}" type="datetimeFigureOut">
              <a:rPr lang="en-IN" smtClean="0"/>
              <a:t>15-04-2026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C1F41067-7826-491A-ABD7-1467CEA69020}" type="slidenum">
              <a:rPr lang="en-IN" smtClean="0"/>
              <a:t>‹#›</a:t>
            </a:fld>
            <a:endParaRPr lang="en-IN" dirty="0"/>
          </a:p>
        </p:txBody>
      </p:sp>
    </p:spTree>
    <p:extLst>
      <p:ext uri="{BB962C8B-B14F-4D97-AF65-F5344CB8AC3E}">
        <p14:creationId xmlns:p14="http://schemas.microsoft.com/office/powerpoint/2010/main" val="2514417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2428703-C59E-4AEA-BC88-7EACFB72137E}" type="datetimeFigureOut">
              <a:rPr lang="en-IN" smtClean="0"/>
              <a:t>15-04-2026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C1F41067-7826-491A-ABD7-1467CEA69020}" type="slidenum">
              <a:rPr lang="en-IN" smtClean="0"/>
              <a:t>‹#›</a:t>
            </a:fld>
            <a:endParaRPr lang="en-IN" dirty="0"/>
          </a:p>
        </p:txBody>
      </p:sp>
    </p:spTree>
    <p:extLst>
      <p:ext uri="{BB962C8B-B14F-4D97-AF65-F5344CB8AC3E}">
        <p14:creationId xmlns:p14="http://schemas.microsoft.com/office/powerpoint/2010/main" val="1567463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428703-C59E-4AEA-BC88-7EACFB72137E}" type="datetimeFigureOut">
              <a:rPr lang="en-IN" smtClean="0"/>
              <a:t>15-04-2026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C1F41067-7826-491A-ABD7-1467CEA69020}" type="slidenum">
              <a:rPr lang="en-IN" smtClean="0"/>
              <a:t>‹#›</a:t>
            </a:fld>
            <a:endParaRPr lang="en-IN" dirty="0"/>
          </a:p>
        </p:txBody>
      </p:sp>
    </p:spTree>
    <p:extLst>
      <p:ext uri="{BB962C8B-B14F-4D97-AF65-F5344CB8AC3E}">
        <p14:creationId xmlns:p14="http://schemas.microsoft.com/office/powerpoint/2010/main" val="4248154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2428703-C59E-4AEA-BC88-7EACFB72137E}" type="datetimeFigureOut">
              <a:rPr lang="en-IN" smtClean="0"/>
              <a:t>15-04-2026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1F41067-7826-491A-ABD7-1467CEA69020}" type="slidenum">
              <a:rPr lang="en-IN" smtClean="0"/>
              <a:t>‹#›</a:t>
            </a:fld>
            <a:endParaRPr lang="en-IN" dirty="0"/>
          </a:p>
        </p:txBody>
      </p:sp>
    </p:spTree>
    <p:extLst>
      <p:ext uri="{BB962C8B-B14F-4D97-AF65-F5344CB8AC3E}">
        <p14:creationId xmlns:p14="http://schemas.microsoft.com/office/powerpoint/2010/main" val="3485992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2428703-C59E-4AEA-BC88-7EACFB72137E}" type="datetimeFigureOut">
              <a:rPr lang="en-IN" smtClean="0"/>
              <a:t>15-04-2026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1F41067-7826-491A-ABD7-1467CEA69020}" type="slidenum">
              <a:rPr lang="en-IN" smtClean="0"/>
              <a:t>‹#›</a:t>
            </a:fld>
            <a:endParaRPr lang="en-IN" dirty="0"/>
          </a:p>
        </p:txBody>
      </p:sp>
    </p:spTree>
    <p:extLst>
      <p:ext uri="{BB962C8B-B14F-4D97-AF65-F5344CB8AC3E}">
        <p14:creationId xmlns:p14="http://schemas.microsoft.com/office/powerpoint/2010/main" val="2820401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2428703-C59E-4AEA-BC88-7EACFB72137E}" type="datetimeFigureOut">
              <a:rPr lang="en-IN" smtClean="0"/>
              <a:t>15-04-2026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1F41067-7826-491A-ABD7-1467CEA69020}" type="slidenum">
              <a:rPr lang="en-IN" smtClean="0"/>
              <a:t>‹#›</a:t>
            </a:fld>
            <a:endParaRPr lang="en-IN" dirty="0"/>
          </a:p>
        </p:txBody>
      </p:sp>
    </p:spTree>
    <p:extLst>
      <p:ext uri="{BB962C8B-B14F-4D97-AF65-F5344CB8AC3E}">
        <p14:creationId xmlns:p14="http://schemas.microsoft.com/office/powerpoint/2010/main" val="3233950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2428703-C59E-4AEA-BC88-7EACFB72137E}" type="datetimeFigureOut">
              <a:rPr lang="en-IN" smtClean="0"/>
              <a:t>15-04-2026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1F41067-7826-491A-ABD7-1467CEA69020}" type="slidenum">
              <a:rPr lang="en-IN" smtClean="0"/>
              <a:t>‹#›</a:t>
            </a:fld>
            <a:endParaRPr lang="en-IN" dirty="0"/>
          </a:p>
        </p:txBody>
      </p:sp>
    </p:spTree>
    <p:extLst>
      <p:ext uri="{BB962C8B-B14F-4D97-AF65-F5344CB8AC3E}">
        <p14:creationId xmlns:p14="http://schemas.microsoft.com/office/powerpoint/2010/main" val="2998782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428703-C59E-4AEA-BC88-7EACFB72137E}" type="datetimeFigureOut">
              <a:rPr lang="en-IN" smtClean="0"/>
              <a:t>15-04-2026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41067-7826-491A-ABD7-1467CEA69020}" type="slidenum">
              <a:rPr lang="en-IN" smtClean="0"/>
              <a:t>‹#›</a:t>
            </a:fld>
            <a:endParaRPr lang="en-IN" dirty="0"/>
          </a:p>
        </p:txBody>
      </p:sp>
    </p:spTree>
    <p:extLst>
      <p:ext uri="{BB962C8B-B14F-4D97-AF65-F5344CB8AC3E}">
        <p14:creationId xmlns:p14="http://schemas.microsoft.com/office/powerpoint/2010/main" val="33188266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slide" Target="slide3.xml"/><Relationship Id="rId7" Type="http://schemas.openxmlformats.org/officeDocument/2006/relationships/slide" Target="slide12.xml"/><Relationship Id="rId12" Type="http://schemas.openxmlformats.org/officeDocument/2006/relationships/slide" Target="slide33.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slide" Target="slide9.xml"/><Relationship Id="rId11" Type="http://schemas.openxmlformats.org/officeDocument/2006/relationships/slide" Target="slide31.xml"/><Relationship Id="rId5" Type="http://schemas.openxmlformats.org/officeDocument/2006/relationships/slide" Target="slide6.xml"/><Relationship Id="rId10" Type="http://schemas.openxmlformats.org/officeDocument/2006/relationships/slide" Target="slide26.xml"/><Relationship Id="rId4" Type="http://schemas.openxmlformats.org/officeDocument/2006/relationships/slide" Target="slide5.xml"/><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3791" y="993913"/>
            <a:ext cx="10552043" cy="4790660"/>
          </a:xfrm>
        </p:spPr>
        <p:txBody>
          <a:bodyPr>
            <a:normAutofit/>
          </a:bodyPr>
          <a:lstStyle/>
          <a:p>
            <a:pPr algn="just"/>
            <a:r>
              <a:rPr lang="en-US" sz="4000" b="1" dirty="0">
                <a:latin typeface="+mn-lt"/>
              </a:rPr>
              <a:t>Research Project on Phishing Attack Incident that led to sensitive information being </a:t>
            </a:r>
            <a:r>
              <a:rPr lang="en-US" sz="4000" b="1" dirty="0" smtClean="0">
                <a:latin typeface="+mn-lt"/>
              </a:rPr>
              <a:t>exposed.</a:t>
            </a:r>
            <a:endParaRPr lang="en-IN" sz="4000" b="1" dirty="0">
              <a:latin typeface="+mn-lt"/>
            </a:endParaRPr>
          </a:p>
        </p:txBody>
      </p:sp>
      <p:sp>
        <p:nvSpPr>
          <p:cNvPr id="3" name="Content Placeholder 2"/>
          <p:cNvSpPr>
            <a:spLocks noGrp="1"/>
          </p:cNvSpPr>
          <p:nvPr>
            <p:ph idx="1"/>
          </p:nvPr>
        </p:nvSpPr>
        <p:spPr>
          <a:xfrm>
            <a:off x="7632396" y="5764694"/>
            <a:ext cx="5690420" cy="1887793"/>
          </a:xfrm>
        </p:spPr>
        <p:txBody>
          <a:bodyPr>
            <a:normAutofit/>
          </a:bodyPr>
          <a:lstStyle/>
          <a:p>
            <a:pPr marL="0" indent="0">
              <a:buNone/>
            </a:pPr>
            <a:r>
              <a:rPr lang="en-US" sz="2400" dirty="0" smtClean="0"/>
              <a:t>Submitted by : Aadi Mathur</a:t>
            </a:r>
            <a:br>
              <a:rPr lang="en-US" sz="2400" dirty="0" smtClean="0"/>
            </a:br>
            <a:r>
              <a:rPr lang="en-US" sz="2400" dirty="0" smtClean="0"/>
              <a:t>Submitted to : Spinnaker Analytics </a:t>
            </a:r>
            <a:endParaRPr lang="en-IN" sz="2400" dirty="0"/>
          </a:p>
        </p:txBody>
      </p:sp>
    </p:spTree>
    <p:extLst>
      <p:ext uri="{BB962C8B-B14F-4D97-AF65-F5344CB8AC3E}">
        <p14:creationId xmlns:p14="http://schemas.microsoft.com/office/powerpoint/2010/main" val="20957815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b="1" dirty="0" smtClean="0"/>
              <a:t>Table of Content</a:t>
            </a:r>
            <a:endParaRPr lang="en-IN" sz="4000" b="1"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IN" sz="2000" dirty="0" smtClean="0">
                <a:hlinkClick r:id="rId3" action="ppaction://hlinksldjump"/>
              </a:rPr>
              <a:t>Introduction</a:t>
            </a:r>
            <a:endParaRPr lang="en-IN" sz="2000" dirty="0" smtClean="0"/>
          </a:p>
          <a:p>
            <a:pPr marL="514350" indent="-514350">
              <a:buFont typeface="+mj-lt"/>
              <a:buAutoNum type="arabicPeriod"/>
            </a:pPr>
            <a:r>
              <a:rPr lang="en-IN" sz="2000" dirty="0" smtClean="0">
                <a:hlinkClick r:id="rId4" action="ppaction://hlinksldjump"/>
              </a:rPr>
              <a:t>Objective of the project</a:t>
            </a:r>
            <a:endParaRPr lang="en-IN" sz="2000" dirty="0" smtClean="0"/>
          </a:p>
          <a:p>
            <a:pPr marL="514350" indent="-514350">
              <a:buFont typeface="+mj-lt"/>
              <a:buAutoNum type="arabicPeriod"/>
            </a:pPr>
            <a:r>
              <a:rPr lang="en-IN" sz="2000" dirty="0" smtClean="0">
                <a:hlinkClick r:id="rId5" action="ppaction://hlinksldjump"/>
              </a:rPr>
              <a:t>Incident Overview </a:t>
            </a:r>
            <a:endParaRPr lang="en-IN" sz="2000" dirty="0" smtClean="0"/>
          </a:p>
          <a:p>
            <a:pPr marL="514350" indent="-514350">
              <a:buFont typeface="+mj-lt"/>
              <a:buAutoNum type="arabicPeriod"/>
            </a:pPr>
            <a:r>
              <a:rPr lang="en-IN" sz="2000" dirty="0" smtClean="0">
                <a:hlinkClick r:id="rId6" action="ppaction://hlinksldjump"/>
              </a:rPr>
              <a:t>Impact Assessment</a:t>
            </a:r>
            <a:endParaRPr lang="en-IN" sz="2000" dirty="0" smtClean="0"/>
          </a:p>
          <a:p>
            <a:pPr marL="514350" indent="-514350">
              <a:buFont typeface="+mj-lt"/>
              <a:buAutoNum type="arabicPeriod"/>
            </a:pPr>
            <a:r>
              <a:rPr lang="en-IN" sz="2000" dirty="0" smtClean="0">
                <a:hlinkClick r:id="rId7" action="ppaction://hlinksldjump"/>
              </a:rPr>
              <a:t>Response and Mitigation</a:t>
            </a:r>
            <a:endParaRPr lang="en-IN" sz="2000" dirty="0" smtClean="0"/>
          </a:p>
          <a:p>
            <a:pPr marL="514350" indent="-514350">
              <a:buFont typeface="+mj-lt"/>
              <a:buAutoNum type="arabicPeriod"/>
            </a:pPr>
            <a:r>
              <a:rPr lang="en-IN" sz="2000" dirty="0" smtClean="0">
                <a:hlinkClick r:id="rId8" action="ppaction://hlinksldjump"/>
              </a:rPr>
              <a:t>Phishing Simulation</a:t>
            </a:r>
            <a:endParaRPr lang="en-IN" sz="2000" dirty="0" smtClean="0"/>
          </a:p>
          <a:p>
            <a:pPr marL="514350" indent="-514350">
              <a:buFont typeface="+mj-lt"/>
              <a:buAutoNum type="arabicPeriod"/>
            </a:pPr>
            <a:r>
              <a:rPr lang="en-IN" sz="2000" dirty="0" smtClean="0">
                <a:hlinkClick r:id="rId9" action="ppaction://hlinksldjump"/>
              </a:rPr>
              <a:t>Recommendation and Future Prevention</a:t>
            </a:r>
            <a:endParaRPr lang="en-IN" sz="2000" dirty="0" smtClean="0"/>
          </a:p>
          <a:p>
            <a:pPr marL="514350" indent="-514350">
              <a:buFont typeface="+mj-lt"/>
              <a:buAutoNum type="arabicPeriod"/>
            </a:pPr>
            <a:r>
              <a:rPr lang="en-IN" sz="2000" dirty="0" smtClean="0">
                <a:hlinkClick r:id="rId10" action="ppaction://hlinksldjump"/>
              </a:rPr>
              <a:t>Ethical and Legal Prevention</a:t>
            </a:r>
            <a:endParaRPr lang="en-IN" sz="2000" dirty="0" smtClean="0"/>
          </a:p>
          <a:p>
            <a:pPr marL="514350" indent="-514350">
              <a:buFont typeface="+mj-lt"/>
              <a:buAutoNum type="arabicPeriod"/>
            </a:pPr>
            <a:r>
              <a:rPr lang="en-IN" sz="2000" dirty="0" smtClean="0">
                <a:hlinkClick r:id="rId11" action="ppaction://hlinksldjump"/>
              </a:rPr>
              <a:t>Conclusions</a:t>
            </a:r>
            <a:endParaRPr lang="en-IN" sz="2000" dirty="0" smtClean="0"/>
          </a:p>
          <a:p>
            <a:pPr marL="514350" indent="-514350">
              <a:buFont typeface="+mj-lt"/>
              <a:buAutoNum type="arabicPeriod"/>
            </a:pPr>
            <a:r>
              <a:rPr lang="en-IN" sz="2000" dirty="0" smtClean="0">
                <a:hlinkClick r:id="rId12" action="ppaction://hlinksldjump"/>
              </a:rPr>
              <a:t>References </a:t>
            </a:r>
            <a:endParaRPr lang="en-IN" sz="2000" dirty="0" smtClean="0"/>
          </a:p>
        </p:txBody>
      </p:sp>
    </p:spTree>
    <p:extLst>
      <p:ext uri="{BB962C8B-B14F-4D97-AF65-F5344CB8AC3E}">
        <p14:creationId xmlns:p14="http://schemas.microsoft.com/office/powerpoint/2010/main" val="20494032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b="1" dirty="0" smtClean="0"/>
              <a:t>Introduction</a:t>
            </a:r>
            <a:endParaRPr lang="en-IN" sz="4000" b="1" dirty="0"/>
          </a:p>
        </p:txBody>
      </p:sp>
      <p:sp>
        <p:nvSpPr>
          <p:cNvPr id="3" name="Content Placeholder 2"/>
          <p:cNvSpPr>
            <a:spLocks noGrp="1"/>
          </p:cNvSpPr>
          <p:nvPr>
            <p:ph idx="1"/>
          </p:nvPr>
        </p:nvSpPr>
        <p:spPr/>
        <p:txBody>
          <a:bodyPr/>
          <a:lstStyle/>
          <a:p>
            <a:r>
              <a:rPr lang="en-IN" sz="2400" b="1" dirty="0" smtClean="0"/>
              <a:t>What is Phishing?</a:t>
            </a:r>
            <a:r>
              <a:rPr lang="en-IN" dirty="0" smtClean="0"/>
              <a:t/>
            </a:r>
            <a:br>
              <a:rPr lang="en-IN" dirty="0" smtClean="0"/>
            </a:br>
            <a:r>
              <a:rPr lang="en-US" sz="2000" dirty="0" smtClean="0"/>
              <a:t>Phishing is a </a:t>
            </a:r>
            <a:r>
              <a:rPr lang="en-US" sz="2000" b="1" dirty="0" smtClean="0"/>
              <a:t>cyberattack</a:t>
            </a:r>
            <a:r>
              <a:rPr lang="en-US" sz="2000" dirty="0" smtClean="0"/>
              <a:t> where attackers impersonate trusted sources (like banks or companies) to trick users into sharing sensitive information such as passwords, credit card details, or personal data.</a:t>
            </a:r>
          </a:p>
          <a:p>
            <a:r>
              <a:rPr lang="en-US" sz="2400" b="1" dirty="0" smtClean="0"/>
              <a:t>Types of Phishing </a:t>
            </a:r>
            <a:r>
              <a:rPr lang="en-US" dirty="0" smtClean="0"/>
              <a:t/>
            </a:r>
            <a:br>
              <a:rPr lang="en-US" dirty="0" smtClean="0"/>
            </a:br>
            <a:r>
              <a:rPr lang="en-US" sz="2000" b="1" dirty="0" smtClean="0"/>
              <a:t>1) Email Phishing</a:t>
            </a:r>
            <a:r>
              <a:rPr lang="en-US" sz="2000" dirty="0" smtClean="0"/>
              <a:t/>
            </a:r>
            <a:br>
              <a:rPr lang="en-US" sz="2000" dirty="0" smtClean="0"/>
            </a:br>
            <a:r>
              <a:rPr lang="en-US" sz="2000" dirty="0" smtClean="0"/>
              <a:t>Mass-distributed fraudulent emails sent to a large number of users, pretending to be from trusted sources</a:t>
            </a:r>
            <a:br>
              <a:rPr lang="en-US" sz="2000" dirty="0" smtClean="0"/>
            </a:br>
            <a:r>
              <a:rPr lang="en-US" sz="2000" dirty="0" smtClean="0"/>
              <a:t/>
            </a:r>
            <a:br>
              <a:rPr lang="en-US" sz="2000" dirty="0" smtClean="0"/>
            </a:br>
            <a:r>
              <a:rPr lang="en-US" sz="2000" b="1" dirty="0" smtClean="0"/>
              <a:t>2) Spear Phishing</a:t>
            </a:r>
            <a:r>
              <a:rPr lang="en-US" sz="2000" dirty="0" smtClean="0"/>
              <a:t/>
            </a:r>
            <a:br>
              <a:rPr lang="en-US" sz="2000" dirty="0" smtClean="0"/>
            </a:br>
            <a:r>
              <a:rPr lang="en-US" sz="2000" dirty="0" smtClean="0"/>
              <a:t>A highly targeted phishing attack aimed at specific individuals or organizations using personalized information.</a:t>
            </a:r>
            <a:endParaRPr lang="en-IN" sz="2000" dirty="0"/>
          </a:p>
        </p:txBody>
      </p:sp>
    </p:spTree>
    <p:extLst>
      <p:ext uri="{BB962C8B-B14F-4D97-AF65-F5344CB8AC3E}">
        <p14:creationId xmlns:p14="http://schemas.microsoft.com/office/powerpoint/2010/main" val="33132626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3137"/>
            <a:ext cx="10515600" cy="5743826"/>
          </a:xfrm>
        </p:spPr>
        <p:txBody>
          <a:bodyPr>
            <a:normAutofit/>
          </a:bodyPr>
          <a:lstStyle/>
          <a:p>
            <a:pPr marL="0" indent="0">
              <a:buNone/>
            </a:pPr>
            <a:r>
              <a:rPr lang="en-US" sz="2000" b="1" dirty="0" smtClean="0"/>
              <a:t>3)</a:t>
            </a:r>
            <a:r>
              <a:rPr lang="en-IN" sz="2000" b="1" dirty="0" smtClean="0"/>
              <a:t> Whaling</a:t>
            </a:r>
            <a:r>
              <a:rPr lang="en-IN" sz="2000" dirty="0" smtClean="0"/>
              <a:t/>
            </a:r>
            <a:br>
              <a:rPr lang="en-IN" sz="2000" dirty="0" smtClean="0"/>
            </a:br>
            <a:r>
              <a:rPr lang="en-US" sz="2000" dirty="0" smtClean="0"/>
              <a:t>A form of spear phishing that targets high-profile individuals such as executives or senior management.</a:t>
            </a:r>
            <a:br>
              <a:rPr lang="en-US" sz="2000" dirty="0" smtClean="0"/>
            </a:br>
            <a:r>
              <a:rPr lang="en-US" sz="2000" dirty="0" smtClean="0"/>
              <a:t/>
            </a:r>
            <a:br>
              <a:rPr lang="en-US" sz="2000" dirty="0" smtClean="0"/>
            </a:br>
            <a:r>
              <a:rPr lang="en-US" sz="2000" b="1" dirty="0" smtClean="0"/>
              <a:t>4) Smishing </a:t>
            </a:r>
            <a:r>
              <a:rPr lang="en-US" sz="2000" dirty="0" smtClean="0"/>
              <a:t/>
            </a:r>
            <a:br>
              <a:rPr lang="en-US" sz="2000" dirty="0" smtClean="0"/>
            </a:br>
            <a:r>
              <a:rPr lang="en-US" sz="2000" dirty="0" smtClean="0"/>
              <a:t>Phishing attacks conducted via SMS or text messages, often containing malicious links or urgent requests.</a:t>
            </a:r>
          </a:p>
          <a:p>
            <a:r>
              <a:rPr lang="en-US" sz="2400" b="1" dirty="0" smtClean="0"/>
              <a:t>Why Phishing is Dangerous </a:t>
            </a:r>
            <a:endParaRPr lang="en-US" sz="2400" b="1" dirty="0"/>
          </a:p>
          <a:p>
            <a:pPr marL="457200" indent="-457200">
              <a:buFont typeface="+mj-lt"/>
              <a:buAutoNum type="arabicPeriod"/>
            </a:pPr>
            <a:r>
              <a:rPr lang="en-US" sz="2000" dirty="0" smtClean="0"/>
              <a:t>Unauthorized access to sensitive data </a:t>
            </a:r>
          </a:p>
          <a:p>
            <a:pPr marL="457200" indent="-457200">
              <a:buFont typeface="+mj-lt"/>
              <a:buAutoNum type="arabicPeriod"/>
            </a:pPr>
            <a:r>
              <a:rPr lang="en-US" sz="2000" dirty="0" smtClean="0"/>
              <a:t>Financial losses and fraud </a:t>
            </a:r>
          </a:p>
          <a:p>
            <a:pPr marL="457200" indent="-457200">
              <a:buFont typeface="+mj-lt"/>
              <a:buAutoNum type="arabicPeriod"/>
            </a:pPr>
            <a:r>
              <a:rPr lang="en-US" sz="2000" dirty="0" smtClean="0"/>
              <a:t>Identity theft </a:t>
            </a:r>
          </a:p>
          <a:p>
            <a:pPr marL="457200" indent="-457200">
              <a:buFont typeface="+mj-lt"/>
              <a:buAutoNum type="arabicPeriod"/>
            </a:pPr>
            <a:r>
              <a:rPr lang="en-US" sz="2000" dirty="0" smtClean="0"/>
              <a:t>Damage to organizational reputation </a:t>
            </a:r>
          </a:p>
          <a:p>
            <a:pPr marL="457200" indent="-457200">
              <a:buFont typeface="+mj-lt"/>
              <a:buAutoNum type="arabicPeriod"/>
            </a:pPr>
            <a:r>
              <a:rPr lang="en-US" sz="2000" dirty="0" smtClean="0"/>
              <a:t>Potential legal and regulatory consequences </a:t>
            </a:r>
          </a:p>
          <a:p>
            <a:pPr marL="0" indent="0">
              <a:buNone/>
            </a:pPr>
            <a:r>
              <a:rPr lang="en-US" sz="2000" dirty="0" smtClean="0"/>
              <a:t>Additionally, phishing attacks can act as an entry point for more advanced cyberattacks such as malware infections and data breaches.</a:t>
            </a:r>
          </a:p>
          <a:p>
            <a:pPr marL="0" indent="0">
              <a:buNone/>
            </a:pPr>
            <a:endParaRPr lang="en-US" sz="2000" dirty="0"/>
          </a:p>
        </p:txBody>
      </p:sp>
    </p:spTree>
    <p:extLst>
      <p:ext uri="{BB962C8B-B14F-4D97-AF65-F5344CB8AC3E}">
        <p14:creationId xmlns:p14="http://schemas.microsoft.com/office/powerpoint/2010/main" val="40734773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b="1" dirty="0" smtClean="0"/>
              <a:t>Objective of the Project</a:t>
            </a:r>
            <a:endParaRPr lang="en-IN" sz="4000" b="1" dirty="0"/>
          </a:p>
        </p:txBody>
      </p:sp>
      <p:sp>
        <p:nvSpPr>
          <p:cNvPr id="3" name="Content Placeholder 2"/>
          <p:cNvSpPr>
            <a:spLocks noGrp="1"/>
          </p:cNvSpPr>
          <p:nvPr>
            <p:ph idx="1"/>
          </p:nvPr>
        </p:nvSpPr>
        <p:spPr/>
        <p:txBody>
          <a:bodyPr>
            <a:normAutofit/>
          </a:bodyPr>
          <a:lstStyle/>
          <a:p>
            <a:pPr marL="0" indent="0">
              <a:buNone/>
            </a:pPr>
            <a:r>
              <a:rPr lang="en-US" sz="2000" dirty="0" smtClean="0"/>
              <a:t>The primary objective of this project is to </a:t>
            </a:r>
            <a:r>
              <a:rPr lang="en-US" sz="2000" b="1" dirty="0" smtClean="0"/>
              <a:t>analyze a real-world phishing attack incident, evaluate its impact on the organization, and assess the effectiveness of the response measures taken</a:t>
            </a:r>
            <a:r>
              <a:rPr lang="en-US" sz="2000" dirty="0" smtClean="0"/>
              <a:t>. </a:t>
            </a:r>
          </a:p>
          <a:p>
            <a:pPr marL="0" indent="0">
              <a:buNone/>
            </a:pPr>
            <a:r>
              <a:rPr lang="en-US" sz="2000" dirty="0" smtClean="0"/>
              <a:t>Furthermore, </a:t>
            </a:r>
            <a:r>
              <a:rPr lang="en-US" sz="2000" b="1" dirty="0" smtClean="0"/>
              <a:t>the project aims to simulate phishing techniques to understand user behavior and identify vulnerabilities</a:t>
            </a:r>
            <a:r>
              <a:rPr lang="en-US" sz="2000" dirty="0" smtClean="0"/>
              <a:t>. Based on these insights, the study proposes recommendations to strengthen cybersecurity measures and prevent future phishing attacks.</a:t>
            </a:r>
            <a:endParaRPr lang="en-IN" sz="2000" dirty="0"/>
          </a:p>
        </p:txBody>
      </p:sp>
    </p:spTree>
    <p:extLst>
      <p:ext uri="{BB962C8B-B14F-4D97-AF65-F5344CB8AC3E}">
        <p14:creationId xmlns:p14="http://schemas.microsoft.com/office/powerpoint/2010/main" val="34931526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b="1" dirty="0"/>
              <a:t>Incident Overview</a:t>
            </a:r>
          </a:p>
        </p:txBody>
      </p:sp>
      <p:sp>
        <p:nvSpPr>
          <p:cNvPr id="3" name="Content Placeholder 2"/>
          <p:cNvSpPr>
            <a:spLocks noGrp="1"/>
          </p:cNvSpPr>
          <p:nvPr>
            <p:ph idx="1"/>
          </p:nvPr>
        </p:nvSpPr>
        <p:spPr/>
        <p:txBody>
          <a:bodyPr>
            <a:normAutofit/>
          </a:bodyPr>
          <a:lstStyle/>
          <a:p>
            <a:r>
              <a:rPr lang="en-IN" sz="2400" b="1" dirty="0"/>
              <a:t>Overview of the </a:t>
            </a:r>
            <a:r>
              <a:rPr lang="en-IN" sz="2400" b="1" dirty="0" smtClean="0"/>
              <a:t>Incident</a:t>
            </a:r>
            <a:r>
              <a:rPr lang="en-IN" dirty="0" smtClean="0"/>
              <a:t/>
            </a:r>
            <a:br>
              <a:rPr lang="en-IN" dirty="0" smtClean="0"/>
            </a:br>
            <a:r>
              <a:rPr lang="en-US" sz="2000" dirty="0"/>
              <a:t>The </a:t>
            </a:r>
            <a:r>
              <a:rPr lang="en-US" sz="2000" b="1" dirty="0"/>
              <a:t>Twitter Bitcoin scam of July 2020 </a:t>
            </a:r>
            <a:r>
              <a:rPr lang="en-US" sz="2000" dirty="0"/>
              <a:t>was one of the most high-profile social engineering attacks in recent history. Attackers successfully gained access to internal systems of </a:t>
            </a:r>
            <a:r>
              <a:rPr lang="en-US" sz="2000" b="1" dirty="0"/>
              <a:t>Twitter</a:t>
            </a:r>
            <a:r>
              <a:rPr lang="en-US" sz="2000" dirty="0"/>
              <a:t> and used verified accounts of prominent individuals and organizations to promote a cryptocurrency scam</a:t>
            </a:r>
            <a:r>
              <a:rPr lang="en-US" sz="2000" dirty="0" smtClean="0"/>
              <a:t>.</a:t>
            </a:r>
          </a:p>
          <a:p>
            <a:r>
              <a:rPr lang="en-IN" sz="2400" b="1" dirty="0"/>
              <a:t>Date of </a:t>
            </a:r>
            <a:r>
              <a:rPr lang="en-IN" sz="2400" b="1" dirty="0" smtClean="0"/>
              <a:t>Incident</a:t>
            </a:r>
            <a:r>
              <a:rPr lang="en-IN" b="1" dirty="0" smtClean="0"/>
              <a:t/>
            </a:r>
            <a:br>
              <a:rPr lang="en-IN" b="1" dirty="0" smtClean="0"/>
            </a:br>
            <a:r>
              <a:rPr lang="en-IN" sz="2000" dirty="0"/>
              <a:t>July 15, </a:t>
            </a:r>
            <a:r>
              <a:rPr lang="en-IN" sz="2000" dirty="0" smtClean="0"/>
              <a:t>2020</a:t>
            </a:r>
          </a:p>
          <a:p>
            <a:r>
              <a:rPr lang="en-IN" sz="2400" b="1" dirty="0"/>
              <a:t>Nature of the </a:t>
            </a:r>
            <a:r>
              <a:rPr lang="en-IN" sz="2400" b="1" dirty="0" smtClean="0"/>
              <a:t>Attack</a:t>
            </a:r>
            <a:r>
              <a:rPr lang="en-IN" b="1" dirty="0" smtClean="0"/>
              <a:t/>
            </a:r>
            <a:br>
              <a:rPr lang="en-IN" b="1" dirty="0" smtClean="0"/>
            </a:br>
            <a:r>
              <a:rPr lang="en-US" sz="2200" dirty="0"/>
              <a:t>The attack was a </a:t>
            </a:r>
            <a:r>
              <a:rPr lang="en-US" sz="2200" b="1" dirty="0"/>
              <a:t>spear phishing and social engineering attack</a:t>
            </a:r>
            <a:r>
              <a:rPr lang="en-US" sz="2200" dirty="0"/>
              <a:t> targeting Twitter employees.</a:t>
            </a:r>
          </a:p>
          <a:p>
            <a:pPr marL="457200" indent="-457200">
              <a:buFont typeface="+mj-lt"/>
              <a:buAutoNum type="arabicPeriod"/>
            </a:pPr>
            <a:r>
              <a:rPr lang="en-US" sz="2200" dirty="0"/>
              <a:t>Attackers manipulated employees into revealing login credentials </a:t>
            </a:r>
          </a:p>
          <a:p>
            <a:pPr marL="457200" indent="-457200">
              <a:buFont typeface="+mj-lt"/>
              <a:buAutoNum type="arabicPeriod"/>
            </a:pPr>
            <a:r>
              <a:rPr lang="en-US" sz="2200" dirty="0"/>
              <a:t>Internal administrative tools were compromised </a:t>
            </a:r>
          </a:p>
          <a:p>
            <a:pPr marL="457200" indent="-457200">
              <a:buFont typeface="+mj-lt"/>
              <a:buAutoNum type="arabicPeriod"/>
            </a:pPr>
            <a:r>
              <a:rPr lang="en-US" sz="2200" dirty="0"/>
              <a:t>Attackers gained control over high-profile accounts</a:t>
            </a:r>
          </a:p>
          <a:p>
            <a:endParaRPr lang="en-IN" b="1" dirty="0"/>
          </a:p>
        </p:txBody>
      </p:sp>
    </p:spTree>
    <p:extLst>
      <p:ext uri="{BB962C8B-B14F-4D97-AF65-F5344CB8AC3E}">
        <p14:creationId xmlns:p14="http://schemas.microsoft.com/office/powerpoint/2010/main" val="20018624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8758"/>
            <a:ext cx="10515600" cy="5888205"/>
          </a:xfrm>
        </p:spPr>
        <p:txBody>
          <a:bodyPr/>
          <a:lstStyle/>
          <a:p>
            <a:r>
              <a:rPr lang="en-IN" sz="2400" b="1" dirty="0"/>
              <a:t>Attack </a:t>
            </a:r>
            <a:r>
              <a:rPr lang="en-IN" sz="2400" b="1" dirty="0" smtClean="0"/>
              <a:t>Execution</a:t>
            </a:r>
          </a:p>
          <a:p>
            <a:pPr marL="457200" indent="-457200">
              <a:buFont typeface="+mj-lt"/>
              <a:buAutoNum type="arabicPeriod"/>
            </a:pPr>
            <a:r>
              <a:rPr lang="en-IN" sz="2000" dirty="0" smtClean="0"/>
              <a:t>Attackers accessed Twitter’s internal admin panel</a:t>
            </a:r>
          </a:p>
          <a:p>
            <a:pPr marL="457200" indent="-457200">
              <a:buFont typeface="+mj-lt"/>
              <a:buAutoNum type="arabicPeriod"/>
            </a:pPr>
            <a:r>
              <a:rPr lang="en-IN" sz="2000" dirty="0" smtClean="0"/>
              <a:t>Took control of verified accounts including:</a:t>
            </a:r>
            <a:br>
              <a:rPr lang="en-IN" sz="2000" dirty="0" smtClean="0"/>
            </a:br>
            <a:r>
              <a:rPr lang="en-IN" sz="2400" dirty="0" smtClean="0">
                <a:sym typeface="Symbol" panose="05050102010706020507" pitchFamily="18" charset="2"/>
              </a:rPr>
              <a:t></a:t>
            </a:r>
            <a:r>
              <a:rPr lang="en-IN" sz="2000" dirty="0" smtClean="0">
                <a:sym typeface="Symbol" panose="05050102010706020507" pitchFamily="18" charset="2"/>
              </a:rPr>
              <a:t> </a:t>
            </a:r>
            <a:r>
              <a:rPr lang="en-IN" sz="2000" dirty="0" smtClean="0"/>
              <a:t>Elon Musk </a:t>
            </a:r>
            <a:br>
              <a:rPr lang="en-IN" sz="2000" dirty="0" smtClean="0"/>
            </a:br>
            <a:r>
              <a:rPr lang="en-IN" sz="2400" dirty="0">
                <a:sym typeface="Symbol" panose="05050102010706020507" pitchFamily="18" charset="2"/>
              </a:rPr>
              <a:t></a:t>
            </a:r>
            <a:r>
              <a:rPr lang="en-IN" sz="2000" dirty="0">
                <a:sym typeface="Symbol" panose="05050102010706020507" pitchFamily="18" charset="2"/>
              </a:rPr>
              <a:t> </a:t>
            </a:r>
            <a:r>
              <a:rPr lang="en-IN" sz="2000" dirty="0" smtClean="0"/>
              <a:t>Barack Obama</a:t>
            </a:r>
            <a:br>
              <a:rPr lang="en-IN" sz="2000" dirty="0" smtClean="0"/>
            </a:br>
            <a:r>
              <a:rPr lang="en-IN" sz="2400" dirty="0">
                <a:sym typeface="Symbol" panose="05050102010706020507" pitchFamily="18" charset="2"/>
              </a:rPr>
              <a:t> </a:t>
            </a:r>
            <a:r>
              <a:rPr lang="en-IN" sz="2000" dirty="0" smtClean="0"/>
              <a:t>Bill Gates</a:t>
            </a:r>
          </a:p>
          <a:p>
            <a:pPr marL="457200" indent="-457200">
              <a:buFont typeface="+mj-lt"/>
              <a:buAutoNum type="arabicPeriod"/>
            </a:pPr>
            <a:r>
              <a:rPr lang="en-US" sz="2000" dirty="0" smtClean="0"/>
              <a:t>Posted tweets promoting a Bitcoin scam:</a:t>
            </a:r>
            <a:br>
              <a:rPr lang="en-US" sz="2000" dirty="0" smtClean="0"/>
            </a:br>
            <a:r>
              <a:rPr lang="en-US" sz="2000" dirty="0" smtClean="0"/>
              <a:t>“Send Bitcoin to this address and get double in return.”</a:t>
            </a:r>
          </a:p>
          <a:p>
            <a:pPr marL="457200" indent="-457200">
              <a:buFont typeface="+mj-lt"/>
              <a:buAutoNum type="arabicPeriod"/>
            </a:pPr>
            <a:r>
              <a:rPr lang="en-US" sz="2000" dirty="0" smtClean="0"/>
              <a:t>Millions of followers were exposed to the scam</a:t>
            </a:r>
          </a:p>
          <a:p>
            <a:r>
              <a:rPr lang="en-US" sz="2400" b="1" dirty="0" smtClean="0"/>
              <a:t>Data Exposure</a:t>
            </a:r>
            <a:endParaRPr lang="en-US" sz="2400" b="1" dirty="0"/>
          </a:p>
          <a:p>
            <a:pPr marL="514350" indent="-514350">
              <a:buFont typeface="+mj-lt"/>
              <a:buAutoNum type="arabicPeriod"/>
            </a:pPr>
            <a:r>
              <a:rPr lang="en-US" sz="2000" dirty="0"/>
              <a:t>Access to internal systems and admin </a:t>
            </a:r>
            <a:r>
              <a:rPr lang="en-US" sz="2000" dirty="0" smtClean="0"/>
              <a:t>tools</a:t>
            </a:r>
          </a:p>
          <a:p>
            <a:pPr marL="514350" indent="-514350">
              <a:buFont typeface="+mj-lt"/>
              <a:buAutoNum type="arabicPeriod"/>
            </a:pPr>
            <a:r>
              <a:rPr lang="en-US" sz="2000" dirty="0"/>
              <a:t>Ability to view account </a:t>
            </a:r>
            <a:r>
              <a:rPr lang="en-US" sz="2000" dirty="0" smtClean="0"/>
              <a:t>information</a:t>
            </a:r>
          </a:p>
          <a:p>
            <a:pPr marL="514350" indent="-514350">
              <a:buFont typeface="+mj-lt"/>
              <a:buAutoNum type="arabicPeriod"/>
            </a:pPr>
            <a:r>
              <a:rPr lang="en-US" sz="2000" dirty="0"/>
              <a:t>Some accounts had personal data accessed (email, phone number</a:t>
            </a:r>
            <a:r>
              <a:rPr lang="en-US" sz="2000" dirty="0" smtClean="0"/>
              <a:t>)</a:t>
            </a:r>
          </a:p>
          <a:p>
            <a:pPr marL="514350" indent="-514350">
              <a:buFont typeface="+mj-lt"/>
              <a:buAutoNum type="arabicPeriod"/>
            </a:pPr>
            <a:r>
              <a:rPr lang="en-US" sz="2000" dirty="0"/>
              <a:t>No evidence of password exposure publicly confirmed </a:t>
            </a:r>
          </a:p>
          <a:p>
            <a:pPr marL="0" indent="0">
              <a:buNone/>
            </a:pPr>
            <a:endParaRPr lang="en-US" sz="2000" b="1" dirty="0"/>
          </a:p>
        </p:txBody>
      </p:sp>
    </p:spTree>
    <p:extLst>
      <p:ext uri="{BB962C8B-B14F-4D97-AF65-F5344CB8AC3E}">
        <p14:creationId xmlns:p14="http://schemas.microsoft.com/office/powerpoint/2010/main" val="33089104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3137"/>
            <a:ext cx="10515600" cy="5743826"/>
          </a:xfrm>
        </p:spPr>
        <p:txBody>
          <a:bodyPr/>
          <a:lstStyle/>
          <a:p>
            <a:r>
              <a:rPr lang="en-IN" sz="2400" b="1" dirty="0"/>
              <a:t>Impact on the </a:t>
            </a:r>
            <a:r>
              <a:rPr lang="en-IN" sz="2400" b="1" dirty="0" smtClean="0"/>
              <a:t>Organization</a:t>
            </a:r>
          </a:p>
          <a:p>
            <a:pPr marL="514350" indent="-514350">
              <a:buFont typeface="+mj-lt"/>
              <a:buAutoNum type="arabicPeriod"/>
            </a:pPr>
            <a:r>
              <a:rPr lang="en-US" sz="2000" dirty="0"/>
              <a:t>Major reputational damage to </a:t>
            </a:r>
            <a:r>
              <a:rPr lang="en-US" sz="2000" dirty="0" smtClean="0"/>
              <a:t>Twitter</a:t>
            </a:r>
          </a:p>
          <a:p>
            <a:pPr marL="514350" indent="-514350">
              <a:buFont typeface="+mj-lt"/>
              <a:buAutoNum type="arabicPeriod"/>
            </a:pPr>
            <a:r>
              <a:rPr lang="en-US" sz="2000" dirty="0"/>
              <a:t>Loss of user trust </a:t>
            </a:r>
            <a:r>
              <a:rPr lang="en-US" sz="2000" dirty="0" smtClean="0"/>
              <a:t>globally</a:t>
            </a:r>
          </a:p>
          <a:p>
            <a:pPr marL="514350" indent="-514350">
              <a:buFont typeface="+mj-lt"/>
              <a:buAutoNum type="arabicPeriod"/>
            </a:pPr>
            <a:r>
              <a:rPr lang="en-US" sz="2000" dirty="0"/>
              <a:t>Financial losses (over $100,000 scammed in Bitcoin</a:t>
            </a:r>
            <a:r>
              <a:rPr lang="en-US" sz="2000" dirty="0" smtClean="0"/>
              <a:t>)</a:t>
            </a:r>
          </a:p>
          <a:p>
            <a:pPr marL="514350" indent="-514350">
              <a:buFont typeface="+mj-lt"/>
              <a:buAutoNum type="arabicPeriod"/>
            </a:pPr>
            <a:r>
              <a:rPr lang="en-US" sz="2000" dirty="0"/>
              <a:t>Temporary suspension of verified account </a:t>
            </a:r>
            <a:r>
              <a:rPr lang="en-US" sz="2000" dirty="0" smtClean="0"/>
              <a:t>tweeting</a:t>
            </a:r>
          </a:p>
          <a:p>
            <a:pPr marL="514350" indent="-514350">
              <a:buFont typeface="+mj-lt"/>
              <a:buAutoNum type="arabicPeriod"/>
            </a:pPr>
            <a:r>
              <a:rPr lang="en-US" sz="2000" dirty="0"/>
              <a:t>Increased regulatory and security </a:t>
            </a:r>
            <a:r>
              <a:rPr lang="en-US" sz="2000" dirty="0" smtClean="0"/>
              <a:t>scrutiny</a:t>
            </a:r>
          </a:p>
          <a:p>
            <a:r>
              <a:rPr lang="en-US" sz="2400" b="1" dirty="0" smtClean="0"/>
              <a:t>Key Takeaway</a:t>
            </a:r>
            <a:r>
              <a:rPr lang="en-US" b="1" dirty="0" smtClean="0"/>
              <a:t/>
            </a:r>
            <a:br>
              <a:rPr lang="en-US" b="1" dirty="0" smtClean="0"/>
            </a:br>
            <a:r>
              <a:rPr lang="en-US" sz="2000" dirty="0" smtClean="0"/>
              <a:t>This </a:t>
            </a:r>
            <a:r>
              <a:rPr lang="en-US" sz="2000" dirty="0"/>
              <a:t>incident highlights how </a:t>
            </a:r>
            <a:r>
              <a:rPr lang="en-US" sz="2000" b="1" dirty="0"/>
              <a:t>human error and social engineering</a:t>
            </a:r>
            <a:r>
              <a:rPr lang="en-US" sz="2000" dirty="0"/>
              <a:t>, rather than technical vulnerabilities, can lead to large-scale security breaches in even the most advanced organizations.</a:t>
            </a:r>
            <a:endParaRPr lang="en-US" sz="2000" b="1" dirty="0" smtClean="0"/>
          </a:p>
          <a:p>
            <a:pPr marL="0" indent="0">
              <a:buNone/>
            </a:pPr>
            <a:r>
              <a:rPr lang="en-IN" sz="2000" dirty="0" smtClean="0"/>
              <a:t/>
            </a:r>
            <a:br>
              <a:rPr lang="en-IN" sz="2000" dirty="0" smtClean="0"/>
            </a:br>
            <a:endParaRPr lang="en-IN" sz="2000" dirty="0"/>
          </a:p>
        </p:txBody>
      </p:sp>
    </p:spTree>
    <p:extLst>
      <p:ext uri="{BB962C8B-B14F-4D97-AF65-F5344CB8AC3E}">
        <p14:creationId xmlns:p14="http://schemas.microsoft.com/office/powerpoint/2010/main" val="9762699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b="1" dirty="0"/>
              <a:t>Impact Assessment</a:t>
            </a:r>
          </a:p>
        </p:txBody>
      </p:sp>
      <p:sp>
        <p:nvSpPr>
          <p:cNvPr id="3" name="Content Placeholder 2"/>
          <p:cNvSpPr>
            <a:spLocks noGrp="1"/>
          </p:cNvSpPr>
          <p:nvPr>
            <p:ph idx="1"/>
          </p:nvPr>
        </p:nvSpPr>
        <p:spPr/>
        <p:txBody>
          <a:bodyPr>
            <a:normAutofit lnSpcReduction="10000"/>
          </a:bodyPr>
          <a:lstStyle/>
          <a:p>
            <a:r>
              <a:rPr lang="en-IN" sz="2400" b="1" dirty="0"/>
              <a:t>Overview of </a:t>
            </a:r>
            <a:r>
              <a:rPr lang="en-IN" sz="2400" b="1" dirty="0" smtClean="0"/>
              <a:t>Impact</a:t>
            </a:r>
            <a:r>
              <a:rPr lang="en-IN" dirty="0" smtClean="0"/>
              <a:t/>
            </a:r>
            <a:br>
              <a:rPr lang="en-IN" dirty="0" smtClean="0"/>
            </a:br>
            <a:r>
              <a:rPr lang="en-US" sz="2000" dirty="0"/>
              <a:t>The </a:t>
            </a:r>
            <a:r>
              <a:rPr lang="en-US" sz="2000" b="1" dirty="0"/>
              <a:t>Twitter Bitcoin scam 2020</a:t>
            </a:r>
            <a:r>
              <a:rPr lang="en-US" sz="2000" dirty="0"/>
              <a:t> had significant consequences for both the organization and its users. The breach demonstrated how a successful social engineering attack can lead to widespread disruption, even without large-scale data theft</a:t>
            </a:r>
            <a:r>
              <a:rPr lang="en-US" sz="2000" dirty="0" smtClean="0"/>
              <a:t>.</a:t>
            </a:r>
          </a:p>
          <a:p>
            <a:r>
              <a:rPr lang="en-IN" sz="2400" b="1" dirty="0"/>
              <a:t>Compromised Data and </a:t>
            </a:r>
            <a:r>
              <a:rPr lang="en-IN" sz="2400" b="1" dirty="0" smtClean="0"/>
              <a:t>Access</a:t>
            </a:r>
            <a:r>
              <a:rPr lang="en-IN" dirty="0" smtClean="0"/>
              <a:t/>
            </a:r>
            <a:br>
              <a:rPr lang="en-IN" dirty="0" smtClean="0"/>
            </a:br>
            <a:r>
              <a:rPr lang="en-US" sz="2200" dirty="0"/>
              <a:t>Although the primary goal of the attackers was financial gain through cryptocurrency fraud, the breach resulted in:</a:t>
            </a:r>
          </a:p>
          <a:p>
            <a:pPr marL="457200" indent="-457200">
              <a:buFont typeface="+mj-lt"/>
              <a:buAutoNum type="arabicPeriod"/>
            </a:pPr>
            <a:r>
              <a:rPr lang="en-US" sz="2200" dirty="0"/>
              <a:t>Unauthorized access to internal administrative tools </a:t>
            </a:r>
          </a:p>
          <a:p>
            <a:pPr marL="457200" indent="-457200">
              <a:buFont typeface="+mj-lt"/>
              <a:buAutoNum type="arabicPeriod"/>
            </a:pPr>
            <a:r>
              <a:rPr lang="en-US" sz="2200" dirty="0"/>
              <a:t>Ability to control and post from high-profile accounts </a:t>
            </a:r>
          </a:p>
          <a:p>
            <a:pPr marL="457200" indent="-457200">
              <a:buFont typeface="+mj-lt"/>
              <a:buAutoNum type="arabicPeriod"/>
            </a:pPr>
            <a:r>
              <a:rPr lang="en-US" sz="2200" dirty="0"/>
              <a:t>Exposure of limited user data (email addresses, phone numbers) </a:t>
            </a:r>
          </a:p>
          <a:p>
            <a:pPr marL="457200" indent="-457200">
              <a:buFont typeface="+mj-lt"/>
              <a:buAutoNum type="arabicPeriod"/>
            </a:pPr>
            <a:r>
              <a:rPr lang="en-US" sz="2200" dirty="0"/>
              <a:t>Access to private messages in some cases </a:t>
            </a:r>
          </a:p>
          <a:p>
            <a:pPr marL="457200" indent="-457200">
              <a:buFont typeface="+mj-lt"/>
              <a:buAutoNum type="arabicPeriod"/>
            </a:pPr>
            <a:r>
              <a:rPr lang="en-US" sz="2200" dirty="0"/>
              <a:t>This level of access posed serious risks to user privacy and platform integrity.</a:t>
            </a:r>
          </a:p>
          <a:p>
            <a:endParaRPr lang="en-IN" dirty="0"/>
          </a:p>
        </p:txBody>
      </p:sp>
    </p:spTree>
    <p:extLst>
      <p:ext uri="{BB962C8B-B14F-4D97-AF65-F5344CB8AC3E}">
        <p14:creationId xmlns:p14="http://schemas.microsoft.com/office/powerpoint/2010/main" val="13536035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2716"/>
            <a:ext cx="10515600" cy="5904247"/>
          </a:xfrm>
        </p:spPr>
        <p:txBody>
          <a:bodyPr>
            <a:noAutofit/>
          </a:bodyPr>
          <a:lstStyle/>
          <a:p>
            <a:r>
              <a:rPr lang="en-IN" sz="2400" b="1" dirty="0"/>
              <a:t>Financial </a:t>
            </a:r>
            <a:r>
              <a:rPr lang="en-IN" sz="2400" b="1" dirty="0" smtClean="0"/>
              <a:t>Impact</a:t>
            </a:r>
          </a:p>
          <a:p>
            <a:pPr marL="514350" indent="-514350">
              <a:buFont typeface="+mj-lt"/>
              <a:buAutoNum type="arabicPeriod"/>
            </a:pPr>
            <a:r>
              <a:rPr lang="en-US" sz="2000" dirty="0"/>
              <a:t>Attackers collected over </a:t>
            </a:r>
            <a:r>
              <a:rPr lang="en-US" sz="2000" b="1" dirty="0"/>
              <a:t>$100,000 in Bitcoin</a:t>
            </a:r>
            <a:r>
              <a:rPr lang="en-US" sz="2000" dirty="0"/>
              <a:t> from </a:t>
            </a:r>
            <a:r>
              <a:rPr lang="en-US" sz="2000" dirty="0" smtClean="0"/>
              <a:t>victims</a:t>
            </a:r>
          </a:p>
          <a:p>
            <a:pPr marL="514350" indent="-514350">
              <a:buFont typeface="+mj-lt"/>
              <a:buAutoNum type="arabicPeriod"/>
            </a:pPr>
            <a:r>
              <a:rPr lang="en-US" sz="2000" dirty="0"/>
              <a:t>Indirect financial losses due to incident response, investigation, and security </a:t>
            </a:r>
            <a:r>
              <a:rPr lang="en-US" sz="2000" dirty="0" smtClean="0"/>
              <a:t>upgrades</a:t>
            </a:r>
          </a:p>
          <a:p>
            <a:pPr marL="514350" indent="-514350">
              <a:buFont typeface="+mj-lt"/>
              <a:buAutoNum type="arabicPeriod"/>
            </a:pPr>
            <a:r>
              <a:rPr lang="en-US" sz="2000" dirty="0"/>
              <a:t>Potential loss of advertising revenue due to reduced user </a:t>
            </a:r>
            <a:r>
              <a:rPr lang="en-US" sz="2000" dirty="0" smtClean="0"/>
              <a:t>trust.</a:t>
            </a:r>
          </a:p>
          <a:p>
            <a:r>
              <a:rPr lang="en-IN" sz="2400" b="1" dirty="0" smtClean="0"/>
              <a:t>Reputational Damage</a:t>
            </a:r>
            <a:r>
              <a:rPr lang="en-IN" b="1" dirty="0" smtClean="0"/>
              <a:t/>
            </a:r>
            <a:br>
              <a:rPr lang="en-IN" b="1" dirty="0" smtClean="0"/>
            </a:br>
            <a:r>
              <a:rPr lang="en-US" sz="2000" dirty="0"/>
              <a:t>The incident severely impacted the credibility of </a:t>
            </a:r>
            <a:r>
              <a:rPr lang="en-US" sz="2000" b="1" dirty="0"/>
              <a:t>Twitter</a:t>
            </a:r>
            <a:r>
              <a:rPr lang="en-US" sz="2000" dirty="0" smtClean="0"/>
              <a:t>:</a:t>
            </a:r>
          </a:p>
          <a:p>
            <a:pPr marL="514350" indent="-514350">
              <a:buFont typeface="+mj-lt"/>
              <a:buAutoNum type="arabicPeriod"/>
            </a:pPr>
            <a:r>
              <a:rPr lang="en-US" sz="2000" dirty="0"/>
              <a:t>Loss of trust among global </a:t>
            </a:r>
            <a:r>
              <a:rPr lang="en-US" sz="2000" dirty="0" smtClean="0"/>
              <a:t>users</a:t>
            </a:r>
          </a:p>
          <a:p>
            <a:pPr marL="514350" indent="-514350">
              <a:buFont typeface="+mj-lt"/>
              <a:buAutoNum type="arabicPeriod"/>
            </a:pPr>
            <a:r>
              <a:rPr lang="en-US" sz="2000" dirty="0"/>
              <a:t>Public concern over platform </a:t>
            </a:r>
            <a:r>
              <a:rPr lang="en-US" sz="2000" dirty="0" smtClean="0"/>
              <a:t>security</a:t>
            </a:r>
          </a:p>
          <a:p>
            <a:pPr marL="514350" indent="-514350">
              <a:buFont typeface="+mj-lt"/>
              <a:buAutoNum type="arabicPeriod"/>
            </a:pPr>
            <a:r>
              <a:rPr lang="en-IN" sz="2000" dirty="0"/>
              <a:t>Negative media coverage </a:t>
            </a:r>
            <a:r>
              <a:rPr lang="en-IN" sz="2000" dirty="0" smtClean="0"/>
              <a:t>worldwide</a:t>
            </a:r>
          </a:p>
          <a:p>
            <a:pPr marL="514350" indent="-514350">
              <a:buFont typeface="+mj-lt"/>
              <a:buAutoNum type="arabicPeriod"/>
            </a:pPr>
            <a:r>
              <a:rPr lang="en-US" sz="2000" dirty="0"/>
              <a:t>Questions raised about internal security </a:t>
            </a:r>
            <a:r>
              <a:rPr lang="en-US" sz="2000" dirty="0" smtClean="0"/>
              <a:t>controls</a:t>
            </a:r>
          </a:p>
          <a:p>
            <a:r>
              <a:rPr lang="en-IN" sz="2400" b="1" dirty="0"/>
              <a:t>Operational </a:t>
            </a:r>
            <a:r>
              <a:rPr lang="en-IN" sz="2400" b="1" dirty="0" smtClean="0"/>
              <a:t>Disruption</a:t>
            </a:r>
          </a:p>
          <a:p>
            <a:pPr marL="457200" indent="-457200">
              <a:buFont typeface="+mj-lt"/>
              <a:buAutoNum type="arabicPeriod"/>
            </a:pPr>
            <a:r>
              <a:rPr lang="en-US" sz="2000" dirty="0"/>
              <a:t>Temporary restriction on tweeting from verified </a:t>
            </a:r>
            <a:r>
              <a:rPr lang="en-US" sz="2000" dirty="0" smtClean="0"/>
              <a:t>accounts</a:t>
            </a:r>
          </a:p>
          <a:p>
            <a:pPr marL="457200" indent="-457200">
              <a:buFont typeface="+mj-lt"/>
              <a:buAutoNum type="arabicPeriod"/>
            </a:pPr>
            <a:r>
              <a:rPr lang="en-US" sz="2000" dirty="0"/>
              <a:t>Disruption of normal platform </a:t>
            </a:r>
            <a:r>
              <a:rPr lang="en-US" sz="2000" dirty="0" smtClean="0"/>
              <a:t>activities</a:t>
            </a:r>
          </a:p>
          <a:p>
            <a:pPr marL="457200" indent="-457200">
              <a:buFont typeface="+mj-lt"/>
              <a:buAutoNum type="arabicPeriod"/>
            </a:pPr>
            <a:r>
              <a:rPr lang="en-US" sz="2000" dirty="0"/>
              <a:t>Emergency response measures affecting system functionality </a:t>
            </a:r>
          </a:p>
          <a:p>
            <a:pPr marL="0" indent="0">
              <a:buNone/>
            </a:pPr>
            <a:endParaRPr lang="en-US" sz="2400" b="1" dirty="0" smtClean="0"/>
          </a:p>
          <a:p>
            <a:pPr marL="0" indent="0">
              <a:buNone/>
            </a:pPr>
            <a:endParaRPr lang="en-US" sz="2000" b="1" dirty="0" smtClean="0"/>
          </a:p>
          <a:p>
            <a:pPr marL="0" indent="0">
              <a:buNone/>
            </a:pPr>
            <a:endParaRPr lang="en-US" sz="2000" dirty="0"/>
          </a:p>
          <a:p>
            <a:pPr marL="0" indent="0">
              <a:buNone/>
            </a:pPr>
            <a:r>
              <a:rPr lang="en-IN" dirty="0" smtClean="0"/>
              <a:t/>
            </a:r>
            <a:br>
              <a:rPr lang="en-IN" dirty="0" smtClean="0"/>
            </a:br>
            <a:endParaRPr lang="en-IN" dirty="0"/>
          </a:p>
        </p:txBody>
      </p:sp>
    </p:spTree>
    <p:extLst>
      <p:ext uri="{BB962C8B-B14F-4D97-AF65-F5344CB8AC3E}">
        <p14:creationId xmlns:p14="http://schemas.microsoft.com/office/powerpoint/2010/main" val="23579382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9918"/>
            <a:ext cx="10515600" cy="5897045"/>
          </a:xfrm>
        </p:spPr>
        <p:txBody>
          <a:bodyPr>
            <a:normAutofit/>
          </a:bodyPr>
          <a:lstStyle/>
          <a:p>
            <a:r>
              <a:rPr lang="en-IN" sz="2400" b="1" dirty="0"/>
              <a:t>Legal and Regulatory </a:t>
            </a:r>
            <a:r>
              <a:rPr lang="en-IN" sz="2400" b="1" dirty="0" smtClean="0"/>
              <a:t>Implications</a:t>
            </a:r>
          </a:p>
          <a:p>
            <a:pPr marL="457200" indent="-457200">
              <a:buFont typeface="+mj-lt"/>
              <a:buAutoNum type="arabicPeriod"/>
            </a:pPr>
            <a:r>
              <a:rPr lang="en-US" sz="2000" dirty="0"/>
              <a:t>Increased scrutiny from regulatory </a:t>
            </a:r>
            <a:r>
              <a:rPr lang="en-US" sz="2000" dirty="0" smtClean="0"/>
              <a:t>authorities</a:t>
            </a:r>
          </a:p>
          <a:p>
            <a:pPr marL="457200" indent="-457200">
              <a:buFont typeface="+mj-lt"/>
              <a:buAutoNum type="arabicPeriod"/>
            </a:pPr>
            <a:r>
              <a:rPr lang="en-US" sz="2000" dirty="0" smtClean="0"/>
              <a:t>Investigations into data protection and security practices </a:t>
            </a:r>
          </a:p>
          <a:p>
            <a:pPr marL="457200" indent="-457200">
              <a:buFont typeface="+mj-lt"/>
              <a:buAutoNum type="arabicPeriod"/>
            </a:pPr>
            <a:r>
              <a:rPr lang="en-US" sz="2000" dirty="0"/>
              <a:t>Potential compliance risks under data protection laws </a:t>
            </a:r>
            <a:endParaRPr lang="en-US" sz="2000" dirty="0" smtClean="0"/>
          </a:p>
          <a:p>
            <a:r>
              <a:rPr lang="en-US" sz="2400" b="1" dirty="0"/>
              <a:t>Risk to Users and </a:t>
            </a:r>
            <a:r>
              <a:rPr lang="en-US" sz="2400" b="1" dirty="0" smtClean="0"/>
              <a:t>Stakeholders</a:t>
            </a:r>
          </a:p>
          <a:p>
            <a:pPr marL="457200" indent="-457200">
              <a:buFont typeface="+mj-lt"/>
              <a:buAutoNum type="arabicPeriod"/>
            </a:pPr>
            <a:r>
              <a:rPr lang="en-US" sz="2000" dirty="0"/>
              <a:t>Users exposed to financial </a:t>
            </a:r>
            <a:r>
              <a:rPr lang="en-US" sz="2000" dirty="0" smtClean="0"/>
              <a:t>scams</a:t>
            </a:r>
          </a:p>
          <a:p>
            <a:pPr marL="457200" indent="-457200">
              <a:buFont typeface="+mj-lt"/>
              <a:buAutoNum type="arabicPeriod"/>
            </a:pPr>
            <a:r>
              <a:rPr lang="en-US" sz="2000" dirty="0"/>
              <a:t>Risk of identity theft and further phishing </a:t>
            </a:r>
            <a:r>
              <a:rPr lang="en-US" sz="2000" dirty="0" smtClean="0"/>
              <a:t>attempts</a:t>
            </a:r>
          </a:p>
          <a:p>
            <a:pPr marL="457200" indent="-457200">
              <a:buFont typeface="+mj-lt"/>
              <a:buAutoNum type="arabicPeriod"/>
            </a:pPr>
            <a:r>
              <a:rPr lang="en-US" sz="2000" dirty="0"/>
              <a:t>High-profile individuals targeted, increasing geopolitical and social </a:t>
            </a:r>
            <a:r>
              <a:rPr lang="en-US" sz="2000" dirty="0" smtClean="0"/>
              <a:t>risks</a:t>
            </a:r>
          </a:p>
          <a:p>
            <a:r>
              <a:rPr lang="en-IN" sz="2400" b="1" dirty="0"/>
              <a:t>Key </a:t>
            </a:r>
            <a:r>
              <a:rPr lang="en-IN" sz="2400" b="1" dirty="0" smtClean="0"/>
              <a:t>Analysis</a:t>
            </a:r>
            <a:br>
              <a:rPr lang="en-IN" sz="2400" b="1" dirty="0" smtClean="0"/>
            </a:br>
            <a:r>
              <a:rPr lang="en-IN" sz="2000" dirty="0"/>
              <a:t>This incident highlights that:</a:t>
            </a:r>
            <a:endParaRPr lang="en-US" sz="2000" b="1" dirty="0"/>
          </a:p>
          <a:p>
            <a:pPr marL="457200" indent="-457200">
              <a:buFont typeface="+mj-lt"/>
              <a:buAutoNum type="arabicPeriod"/>
            </a:pPr>
            <a:r>
              <a:rPr lang="en-US" sz="2000" dirty="0"/>
              <a:t>Human vulnerabilities can bypass strong technical </a:t>
            </a:r>
            <a:r>
              <a:rPr lang="en-US" sz="2000" dirty="0" smtClean="0"/>
              <a:t>defenses</a:t>
            </a:r>
          </a:p>
          <a:p>
            <a:pPr marL="457200" indent="-457200">
              <a:buFont typeface="+mj-lt"/>
              <a:buAutoNum type="arabicPeriod"/>
            </a:pPr>
            <a:r>
              <a:rPr lang="en-US" sz="2000" dirty="0"/>
              <a:t>Internal system access is a critical security </a:t>
            </a:r>
            <a:r>
              <a:rPr lang="en-US" sz="2000" dirty="0" smtClean="0"/>
              <a:t>risk</a:t>
            </a:r>
          </a:p>
          <a:p>
            <a:pPr marL="457200" indent="-457200">
              <a:buFont typeface="+mj-lt"/>
              <a:buAutoNum type="arabicPeriod"/>
            </a:pPr>
            <a:r>
              <a:rPr lang="en-US" sz="2000" dirty="0"/>
              <a:t>Even limited data exposure can have large-scale consequences</a:t>
            </a:r>
            <a:endParaRPr lang="en-US" sz="2000" dirty="0" smtClean="0"/>
          </a:p>
          <a:p>
            <a:pPr marL="457200" indent="-457200">
              <a:buFont typeface="+mj-lt"/>
              <a:buAutoNum type="arabicPeriod"/>
            </a:pPr>
            <a:endParaRPr lang="en-US" sz="2400" dirty="0" smtClean="0"/>
          </a:p>
        </p:txBody>
      </p:sp>
    </p:spTree>
    <p:extLst>
      <p:ext uri="{BB962C8B-B14F-4D97-AF65-F5344CB8AC3E}">
        <p14:creationId xmlns:p14="http://schemas.microsoft.com/office/powerpoint/2010/main" val="36048649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t>Response and Mitigation</a:t>
            </a:r>
            <a:endParaRPr lang="en-IN" b="1" dirty="0"/>
          </a:p>
        </p:txBody>
      </p:sp>
      <p:sp>
        <p:nvSpPr>
          <p:cNvPr id="3" name="Content Placeholder 2"/>
          <p:cNvSpPr>
            <a:spLocks noGrp="1"/>
          </p:cNvSpPr>
          <p:nvPr>
            <p:ph idx="1"/>
          </p:nvPr>
        </p:nvSpPr>
        <p:spPr/>
        <p:txBody>
          <a:bodyPr/>
          <a:lstStyle/>
          <a:p>
            <a:r>
              <a:rPr lang="en-IN" sz="2400" b="1" dirty="0"/>
              <a:t>Immediate Response </a:t>
            </a:r>
            <a:r>
              <a:rPr lang="en-IN" sz="2400" b="1" dirty="0" smtClean="0"/>
              <a:t>Actions</a:t>
            </a:r>
            <a:r>
              <a:rPr lang="en-IN" dirty="0"/>
              <a:t/>
            </a:r>
            <a:br>
              <a:rPr lang="en-IN" dirty="0"/>
            </a:br>
            <a:r>
              <a:rPr lang="en-US" sz="2000" dirty="0"/>
              <a:t>Following the </a:t>
            </a:r>
            <a:r>
              <a:rPr lang="en-US" sz="2000" u="sng" dirty="0"/>
              <a:t>Twitter Bitcoin scam 2020</a:t>
            </a:r>
            <a:r>
              <a:rPr lang="en-US" sz="2000" dirty="0"/>
              <a:t>, Twitter took rapid steps to contain the attack and prevent further damage:</a:t>
            </a:r>
          </a:p>
          <a:p>
            <a:pPr marL="457200" indent="-457200">
              <a:buFont typeface="+mj-lt"/>
              <a:buAutoNum type="arabicPeriod"/>
            </a:pPr>
            <a:r>
              <a:rPr lang="en-US" sz="2000" dirty="0"/>
              <a:t>Disabled access to compromised internal administrative tools </a:t>
            </a:r>
          </a:p>
          <a:p>
            <a:pPr marL="457200" indent="-457200">
              <a:buFont typeface="+mj-lt"/>
              <a:buAutoNum type="arabicPeriod"/>
            </a:pPr>
            <a:r>
              <a:rPr lang="en-US" sz="2000" dirty="0"/>
              <a:t>Locked affected high-profile accounts </a:t>
            </a:r>
          </a:p>
          <a:p>
            <a:pPr marL="457200" indent="-457200">
              <a:buFont typeface="+mj-lt"/>
              <a:buAutoNum type="arabicPeriod"/>
            </a:pPr>
            <a:r>
              <a:rPr lang="en-US" sz="2000" dirty="0"/>
              <a:t>Temporarily restricted tweeting functionality for verified users </a:t>
            </a:r>
          </a:p>
          <a:p>
            <a:pPr marL="457200" indent="-457200">
              <a:buFont typeface="+mj-lt"/>
              <a:buAutoNum type="arabicPeriod"/>
            </a:pPr>
            <a:r>
              <a:rPr lang="en-US" sz="2000" dirty="0"/>
              <a:t>Removed malicious tweets promoting the scam </a:t>
            </a:r>
          </a:p>
          <a:p>
            <a:pPr marL="0" indent="0">
              <a:buNone/>
            </a:pPr>
            <a:r>
              <a:rPr lang="en-US" sz="2000" dirty="0"/>
              <a:t>These actions helped limit the spread of the attack and reduced further financial loss.</a:t>
            </a:r>
          </a:p>
          <a:p>
            <a:pPr marL="0" indent="0">
              <a:buNone/>
            </a:pPr>
            <a:endParaRPr lang="en-IN" sz="2400" b="1" dirty="0"/>
          </a:p>
        </p:txBody>
      </p:sp>
    </p:spTree>
    <p:extLst>
      <p:ext uri="{BB962C8B-B14F-4D97-AF65-F5344CB8AC3E}">
        <p14:creationId xmlns:p14="http://schemas.microsoft.com/office/powerpoint/2010/main" val="9203000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968"/>
            <a:ext cx="10515600" cy="5807995"/>
          </a:xfrm>
        </p:spPr>
        <p:txBody>
          <a:bodyPr/>
          <a:lstStyle/>
          <a:p>
            <a:r>
              <a:rPr lang="en-IN" sz="2400" b="1" dirty="0"/>
              <a:t>Incident Response Plan </a:t>
            </a:r>
            <a:r>
              <a:rPr lang="en-IN" sz="2400" b="1" dirty="0" smtClean="0"/>
              <a:t>Evaluation</a:t>
            </a:r>
            <a:r>
              <a:rPr lang="en-IN" dirty="0" smtClean="0"/>
              <a:t/>
            </a:r>
            <a:br>
              <a:rPr lang="en-IN" dirty="0" smtClean="0"/>
            </a:br>
            <a:r>
              <a:rPr lang="en-US" sz="2000" dirty="0"/>
              <a:t>Twitter’s response demonstrated both strengths and weaknesses:</a:t>
            </a:r>
          </a:p>
          <a:p>
            <a:pPr>
              <a:buFont typeface="Wingdings" panose="05000000000000000000" pitchFamily="2" charset="2"/>
              <a:buChar char="v"/>
            </a:pPr>
            <a:r>
              <a:rPr lang="en-US" sz="2000" b="1" dirty="0" smtClean="0"/>
              <a:t> Strengths</a:t>
            </a:r>
            <a:r>
              <a:rPr lang="en-US" sz="2000" b="1" dirty="0"/>
              <a:t>:</a:t>
            </a:r>
          </a:p>
          <a:p>
            <a:pPr marL="514350" indent="-514350">
              <a:buFont typeface="+mj-lt"/>
              <a:buAutoNum type="arabicPeriod"/>
            </a:pPr>
            <a:r>
              <a:rPr lang="en-US" sz="2000" dirty="0"/>
              <a:t>Quick identification of unusual account activity </a:t>
            </a:r>
          </a:p>
          <a:p>
            <a:pPr marL="514350" indent="-514350">
              <a:buFont typeface="+mj-lt"/>
              <a:buAutoNum type="arabicPeriod"/>
            </a:pPr>
            <a:r>
              <a:rPr lang="en-US" sz="2000" dirty="0"/>
              <a:t>Rapid containment by restricting internal tool access </a:t>
            </a:r>
          </a:p>
          <a:p>
            <a:pPr marL="514350" indent="-514350">
              <a:buFont typeface="+mj-lt"/>
              <a:buAutoNum type="arabicPeriod"/>
            </a:pPr>
            <a:r>
              <a:rPr lang="en-US" sz="2000" dirty="0"/>
              <a:t>Immediate public acknowledgment of the incident </a:t>
            </a:r>
          </a:p>
          <a:p>
            <a:pPr>
              <a:buFont typeface="Wingdings" panose="05000000000000000000" pitchFamily="2" charset="2"/>
              <a:buChar char="v"/>
            </a:pPr>
            <a:r>
              <a:rPr lang="en-US" sz="2000" b="1" dirty="0" smtClean="0"/>
              <a:t> Weaknesses</a:t>
            </a:r>
            <a:r>
              <a:rPr lang="en-US" sz="2000" b="1" dirty="0"/>
              <a:t>:</a:t>
            </a:r>
          </a:p>
          <a:p>
            <a:pPr marL="514350" indent="-514350">
              <a:buFont typeface="+mj-lt"/>
              <a:buAutoNum type="arabicPeriod"/>
            </a:pPr>
            <a:r>
              <a:rPr lang="en-US" sz="2000" dirty="0"/>
              <a:t>Over-reliance on employee access to sensitive tools </a:t>
            </a:r>
          </a:p>
          <a:p>
            <a:pPr marL="514350" indent="-514350">
              <a:buFont typeface="+mj-lt"/>
              <a:buAutoNum type="arabicPeriod"/>
            </a:pPr>
            <a:r>
              <a:rPr lang="en-US" sz="2000" dirty="0"/>
              <a:t>Lack of strong internal access controls </a:t>
            </a:r>
          </a:p>
          <a:p>
            <a:pPr marL="514350" indent="-514350">
              <a:buFont typeface="+mj-lt"/>
              <a:buAutoNum type="arabicPeriod"/>
            </a:pPr>
            <a:r>
              <a:rPr lang="en-US" sz="2000" dirty="0"/>
              <a:t>Insufficient protection against social engineering attacks</a:t>
            </a:r>
          </a:p>
          <a:p>
            <a:endParaRPr lang="en-IN" dirty="0"/>
          </a:p>
        </p:txBody>
      </p:sp>
    </p:spTree>
    <p:extLst>
      <p:ext uri="{BB962C8B-B14F-4D97-AF65-F5344CB8AC3E}">
        <p14:creationId xmlns:p14="http://schemas.microsoft.com/office/powerpoint/2010/main" val="33487751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6884"/>
            <a:ext cx="10515600" cy="5840079"/>
          </a:xfrm>
        </p:spPr>
        <p:txBody>
          <a:bodyPr>
            <a:noAutofit/>
          </a:bodyPr>
          <a:lstStyle/>
          <a:p>
            <a:r>
              <a:rPr lang="en-IN" sz="2400" b="1" dirty="0"/>
              <a:t>Forensic </a:t>
            </a:r>
            <a:r>
              <a:rPr lang="en-IN" sz="2400" b="1" dirty="0" smtClean="0"/>
              <a:t>Investigation</a:t>
            </a:r>
            <a:r>
              <a:rPr lang="en-IN" b="1" dirty="0" smtClean="0"/>
              <a:t/>
            </a:r>
            <a:br>
              <a:rPr lang="en-IN" b="1" dirty="0" smtClean="0"/>
            </a:br>
            <a:r>
              <a:rPr lang="en-US" sz="2000" dirty="0"/>
              <a:t>Internal investigation conducted to trace the attack path </a:t>
            </a:r>
          </a:p>
          <a:p>
            <a:pPr marL="514350" indent="-514350">
              <a:buFont typeface="+mj-lt"/>
              <a:buAutoNum type="arabicPeriod"/>
            </a:pPr>
            <a:r>
              <a:rPr lang="en-US" sz="2000" dirty="0"/>
              <a:t>Collaboration with law enforcement agencies (e.g., FBI) </a:t>
            </a:r>
          </a:p>
          <a:p>
            <a:pPr marL="514350" indent="-514350">
              <a:buFont typeface="+mj-lt"/>
              <a:buAutoNum type="arabicPeriod"/>
            </a:pPr>
            <a:r>
              <a:rPr lang="en-US" sz="2000" dirty="0"/>
              <a:t>Identification of attackers and their methods </a:t>
            </a:r>
          </a:p>
          <a:p>
            <a:pPr marL="514350" indent="-514350">
              <a:buFont typeface="+mj-lt"/>
              <a:buAutoNum type="arabicPeriod"/>
            </a:pPr>
            <a:r>
              <a:rPr lang="en-US" sz="2000" dirty="0"/>
              <a:t>Analysis of compromised systems and employee accounts </a:t>
            </a:r>
          </a:p>
          <a:p>
            <a:pPr marL="514350" indent="-514350">
              <a:buFont typeface="+mj-lt"/>
              <a:buAutoNum type="arabicPeriod"/>
            </a:pPr>
            <a:r>
              <a:rPr lang="en-US" sz="2000" dirty="0"/>
              <a:t>This helped in understanding how the attackers exploited employee credentials</a:t>
            </a:r>
            <a:r>
              <a:rPr lang="en-US" sz="2000" dirty="0" smtClean="0"/>
              <a:t>.</a:t>
            </a:r>
          </a:p>
          <a:p>
            <a:r>
              <a:rPr lang="en-IN" sz="2400" b="1" dirty="0"/>
              <a:t>Communication </a:t>
            </a:r>
            <a:r>
              <a:rPr lang="en-IN" sz="2400" b="1" dirty="0" smtClean="0"/>
              <a:t>Strategy</a:t>
            </a:r>
            <a:r>
              <a:rPr lang="en-IN" b="1" dirty="0" smtClean="0"/>
              <a:t/>
            </a:r>
            <a:br>
              <a:rPr lang="en-IN" b="1" dirty="0" smtClean="0"/>
            </a:br>
            <a:r>
              <a:rPr lang="en-US" sz="2000" dirty="0"/>
              <a:t>Twitter maintained transparency by:</a:t>
            </a:r>
          </a:p>
          <a:p>
            <a:pPr marL="457200" indent="-457200">
              <a:buFont typeface="+mj-lt"/>
              <a:buAutoNum type="arabicPeriod"/>
            </a:pPr>
            <a:r>
              <a:rPr lang="en-US" sz="2000" dirty="0"/>
              <a:t>Posting official updates about the incident </a:t>
            </a:r>
          </a:p>
          <a:p>
            <a:pPr marL="457200" indent="-457200">
              <a:buFont typeface="+mj-lt"/>
              <a:buAutoNum type="arabicPeriod"/>
            </a:pPr>
            <a:r>
              <a:rPr lang="en-US" sz="2000" dirty="0"/>
              <a:t>Informing affected users </a:t>
            </a:r>
          </a:p>
          <a:p>
            <a:pPr marL="457200" indent="-457200">
              <a:buFont typeface="+mj-lt"/>
              <a:buAutoNum type="arabicPeriod"/>
            </a:pPr>
            <a:r>
              <a:rPr lang="en-US" sz="2000" dirty="0"/>
              <a:t>Providing guidance to avoid falling for scams </a:t>
            </a:r>
          </a:p>
          <a:p>
            <a:pPr marL="457200" indent="-457200">
              <a:buFont typeface="+mj-lt"/>
              <a:buAutoNum type="arabicPeriod"/>
            </a:pPr>
            <a:r>
              <a:rPr lang="en-US" sz="2000" dirty="0"/>
              <a:t>However, initial confusion and lack of detailed early communication led to some user uncertainty.</a:t>
            </a:r>
          </a:p>
          <a:p>
            <a:pPr marL="0" indent="0">
              <a:buNone/>
            </a:pPr>
            <a:endParaRPr lang="en-US" b="1" dirty="0"/>
          </a:p>
        </p:txBody>
      </p:sp>
    </p:spTree>
    <p:extLst>
      <p:ext uri="{BB962C8B-B14F-4D97-AF65-F5344CB8AC3E}">
        <p14:creationId xmlns:p14="http://schemas.microsoft.com/office/powerpoint/2010/main" val="10997297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01053"/>
            <a:ext cx="10515600" cy="5775910"/>
          </a:xfrm>
        </p:spPr>
        <p:txBody>
          <a:bodyPr>
            <a:noAutofit/>
          </a:bodyPr>
          <a:lstStyle/>
          <a:p>
            <a:r>
              <a:rPr lang="en-IN" sz="2400" b="1" dirty="0"/>
              <a:t>Security Improvements </a:t>
            </a:r>
            <a:r>
              <a:rPr lang="en-IN" sz="2400" b="1" dirty="0" smtClean="0"/>
              <a:t>Implemented</a:t>
            </a:r>
            <a:r>
              <a:rPr lang="en-IN" dirty="0" smtClean="0"/>
              <a:t/>
            </a:r>
            <a:br>
              <a:rPr lang="en-IN" dirty="0" smtClean="0"/>
            </a:br>
            <a:r>
              <a:rPr lang="en-US" sz="2000" dirty="0"/>
              <a:t>After the incident, Twitter strengthened its security posture:</a:t>
            </a:r>
          </a:p>
          <a:p>
            <a:pPr>
              <a:buFont typeface="Wingdings" panose="05000000000000000000" pitchFamily="2" charset="2"/>
              <a:buChar char="v"/>
            </a:pPr>
            <a:r>
              <a:rPr lang="en-US" sz="2000" b="1" dirty="0" smtClean="0"/>
              <a:t> </a:t>
            </a:r>
            <a:r>
              <a:rPr lang="en-US" sz="2000" b="1" dirty="0"/>
              <a:t>Technical Measures:</a:t>
            </a:r>
          </a:p>
          <a:p>
            <a:pPr marL="457200" indent="-457200">
              <a:buFont typeface="+mj-lt"/>
              <a:buAutoNum type="arabicPeriod"/>
            </a:pPr>
            <a:r>
              <a:rPr lang="en-US" sz="2000" dirty="0"/>
              <a:t>Restricted access to internal administrative tools </a:t>
            </a:r>
          </a:p>
          <a:p>
            <a:pPr marL="457200" indent="-457200">
              <a:buFont typeface="+mj-lt"/>
              <a:buAutoNum type="arabicPeriod"/>
            </a:pPr>
            <a:r>
              <a:rPr lang="en-US" sz="2000" dirty="0"/>
              <a:t>Enhanced monitoring and detection systems </a:t>
            </a:r>
          </a:p>
          <a:p>
            <a:pPr marL="457200" indent="-457200">
              <a:buFont typeface="+mj-lt"/>
              <a:buAutoNum type="arabicPeriod"/>
            </a:pPr>
            <a:r>
              <a:rPr lang="en-US" sz="2000" dirty="0"/>
              <a:t>Improved authentication mechanisms for employees </a:t>
            </a:r>
          </a:p>
          <a:p>
            <a:pPr>
              <a:buFont typeface="Wingdings" panose="05000000000000000000" pitchFamily="2" charset="2"/>
              <a:buChar char="v"/>
            </a:pPr>
            <a:r>
              <a:rPr lang="en-US" sz="2000" b="1" dirty="0" smtClean="0"/>
              <a:t> </a:t>
            </a:r>
            <a:r>
              <a:rPr lang="en-US" sz="2000" b="1" dirty="0"/>
              <a:t>Organizational Measures:</a:t>
            </a:r>
          </a:p>
          <a:p>
            <a:pPr marL="457200" indent="-457200">
              <a:buFont typeface="+mj-lt"/>
              <a:buAutoNum type="arabicPeriod"/>
            </a:pPr>
            <a:r>
              <a:rPr lang="en-US" sz="2000" dirty="0"/>
              <a:t>Increased employee cybersecurity training </a:t>
            </a:r>
          </a:p>
          <a:p>
            <a:pPr marL="457200" indent="-457200">
              <a:buFont typeface="+mj-lt"/>
              <a:buAutoNum type="arabicPeriod"/>
            </a:pPr>
            <a:r>
              <a:rPr lang="en-US" sz="2000" dirty="0"/>
              <a:t>Awareness programs on phishing and social engineering </a:t>
            </a:r>
          </a:p>
          <a:p>
            <a:pPr marL="457200" indent="-457200">
              <a:buFont typeface="+mj-lt"/>
              <a:buAutoNum type="arabicPeriod"/>
            </a:pPr>
            <a:r>
              <a:rPr lang="en-US" sz="2000" dirty="0"/>
              <a:t>Stricter internal access </a:t>
            </a:r>
            <a:r>
              <a:rPr lang="en-US" sz="2000" dirty="0" smtClean="0"/>
              <a:t>policies</a:t>
            </a:r>
          </a:p>
          <a:p>
            <a:endParaRPr lang="en-US" sz="2400" b="1" dirty="0"/>
          </a:p>
          <a:p>
            <a:pPr marL="0" indent="0">
              <a:buNone/>
            </a:pPr>
            <a:endParaRPr lang="en-IN" dirty="0"/>
          </a:p>
        </p:txBody>
      </p:sp>
    </p:spTree>
    <p:extLst>
      <p:ext uri="{BB962C8B-B14F-4D97-AF65-F5344CB8AC3E}">
        <p14:creationId xmlns:p14="http://schemas.microsoft.com/office/powerpoint/2010/main" val="22985569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3137"/>
            <a:ext cx="10515600" cy="5743826"/>
          </a:xfrm>
        </p:spPr>
        <p:txBody>
          <a:bodyPr>
            <a:normAutofit/>
          </a:bodyPr>
          <a:lstStyle/>
          <a:p>
            <a:r>
              <a:rPr lang="en-IN" sz="2400" b="1" dirty="0"/>
              <a:t>Effectiveness of Response</a:t>
            </a:r>
            <a:r>
              <a:rPr lang="en-IN" b="1" dirty="0"/>
              <a:t/>
            </a:r>
            <a:br>
              <a:rPr lang="en-IN" b="1" dirty="0"/>
            </a:br>
            <a:r>
              <a:rPr lang="en-US" sz="2000" dirty="0"/>
              <a:t>The response was </a:t>
            </a:r>
            <a:r>
              <a:rPr lang="en-US" sz="2000" b="1" dirty="0"/>
              <a:t>partially effective</a:t>
            </a:r>
            <a:r>
              <a:rPr lang="en-US" sz="2000" dirty="0"/>
              <a:t>:</a:t>
            </a:r>
          </a:p>
          <a:p>
            <a:pPr marL="457200" indent="-457200">
              <a:buFont typeface="+mj-lt"/>
              <a:buAutoNum type="arabicPeriod"/>
            </a:pPr>
            <a:r>
              <a:rPr lang="en-US" sz="2000" dirty="0"/>
              <a:t>Successfully contained the attack quickly </a:t>
            </a:r>
          </a:p>
          <a:p>
            <a:pPr marL="457200" indent="-457200">
              <a:buFont typeface="+mj-lt"/>
              <a:buAutoNum type="arabicPeriod"/>
            </a:pPr>
            <a:r>
              <a:rPr lang="en-US" sz="2000" dirty="0"/>
              <a:t>Prevented further large-scale damage </a:t>
            </a:r>
          </a:p>
          <a:p>
            <a:pPr marL="457200" indent="-457200">
              <a:buFont typeface="+mj-lt"/>
              <a:buAutoNum type="arabicPeriod"/>
            </a:pPr>
            <a:r>
              <a:rPr lang="en-US" sz="2000" dirty="0"/>
              <a:t>Failed to prevent initial breach due to human factor vulnerabilities</a:t>
            </a:r>
          </a:p>
          <a:p>
            <a:endParaRPr lang="en-IN" sz="2400" b="1" dirty="0" smtClean="0"/>
          </a:p>
          <a:p>
            <a:r>
              <a:rPr lang="en-IN" sz="2400" b="1" dirty="0" smtClean="0"/>
              <a:t>Key Takeaway</a:t>
            </a:r>
          </a:p>
          <a:p>
            <a:pPr marL="0" indent="0" algn="just">
              <a:buNone/>
            </a:pPr>
            <a:r>
              <a:rPr lang="en-US" sz="2000" dirty="0" smtClean="0"/>
              <a:t>The </a:t>
            </a:r>
            <a:r>
              <a:rPr lang="en-US" sz="2000" dirty="0"/>
              <a:t>incident highlights that </a:t>
            </a:r>
            <a:r>
              <a:rPr lang="en-US" sz="2000" b="1" dirty="0"/>
              <a:t>incident response is not just about reacting quickly, but also about being prepared with strong internal security controls and employee awareness to prevent such attacks in the first place.</a:t>
            </a:r>
            <a:endParaRPr lang="en-IN" sz="2000" b="1" dirty="0"/>
          </a:p>
        </p:txBody>
      </p:sp>
    </p:spTree>
    <p:extLst>
      <p:ext uri="{BB962C8B-B14F-4D97-AF65-F5344CB8AC3E}">
        <p14:creationId xmlns:p14="http://schemas.microsoft.com/office/powerpoint/2010/main" val="6569326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Simulation of Phishing Technique</a:t>
            </a:r>
          </a:p>
        </p:txBody>
      </p:sp>
      <p:sp>
        <p:nvSpPr>
          <p:cNvPr id="3" name="Content Placeholder 2"/>
          <p:cNvSpPr>
            <a:spLocks noGrp="1"/>
          </p:cNvSpPr>
          <p:nvPr>
            <p:ph idx="1"/>
          </p:nvPr>
        </p:nvSpPr>
        <p:spPr/>
        <p:txBody>
          <a:bodyPr>
            <a:normAutofit lnSpcReduction="10000"/>
          </a:bodyPr>
          <a:lstStyle/>
          <a:p>
            <a:r>
              <a:rPr lang="en-US" sz="2400" b="1" dirty="0"/>
              <a:t>Phishing Simulation using GoPhish</a:t>
            </a:r>
            <a:r>
              <a:rPr lang="en-IN" sz="2400" b="1" dirty="0" smtClean="0"/>
              <a:t/>
            </a:r>
            <a:br>
              <a:rPr lang="en-IN" sz="2400" b="1" dirty="0" smtClean="0"/>
            </a:br>
            <a:r>
              <a:rPr lang="en-US" sz="2000" dirty="0" smtClean="0"/>
              <a:t>Objective</a:t>
            </a:r>
            <a:r>
              <a:rPr lang="en-US" sz="2000" dirty="0"/>
              <a:t>: To simulate a phishing attack and analyze user behavior in a controlled environment</a:t>
            </a:r>
            <a:r>
              <a:rPr lang="en-US" sz="2000" dirty="0" smtClean="0"/>
              <a:t>.</a:t>
            </a:r>
          </a:p>
          <a:p>
            <a:r>
              <a:rPr lang="en-IN" sz="2400" b="1" dirty="0" smtClean="0"/>
              <a:t>Tool Used</a:t>
            </a:r>
            <a:br>
              <a:rPr lang="en-IN" sz="2400" b="1" dirty="0" smtClean="0"/>
            </a:br>
            <a:r>
              <a:rPr lang="en-IN" sz="2400" b="1" dirty="0" smtClean="0"/>
              <a:t>Tool: </a:t>
            </a:r>
            <a:r>
              <a:rPr lang="en-US" sz="2400" dirty="0" smtClean="0"/>
              <a:t>GoPhish </a:t>
            </a:r>
            <a:br>
              <a:rPr lang="en-US" sz="2400" dirty="0" smtClean="0"/>
            </a:br>
            <a:r>
              <a:rPr lang="en-US" sz="2400" dirty="0" smtClean="0"/>
              <a:t>Open-source </a:t>
            </a:r>
            <a:r>
              <a:rPr lang="en-US" sz="2400" dirty="0"/>
              <a:t>tool for creating and managing phishing campaigns </a:t>
            </a:r>
          </a:p>
          <a:p>
            <a:r>
              <a:rPr lang="en-IN" sz="2400" b="1" dirty="0"/>
              <a:t>Environment </a:t>
            </a:r>
            <a:r>
              <a:rPr lang="en-IN" sz="2400" b="1" dirty="0" smtClean="0"/>
              <a:t>Setup</a:t>
            </a:r>
          </a:p>
          <a:p>
            <a:pPr marL="457200" indent="-457200">
              <a:buFont typeface="+mj-lt"/>
              <a:buAutoNum type="arabicPeriod"/>
            </a:pPr>
            <a:r>
              <a:rPr lang="en-IN" sz="2000" dirty="0"/>
              <a:t>Platform: Kali Linux (Virtual Machine</a:t>
            </a:r>
            <a:r>
              <a:rPr lang="en-IN" sz="2000" dirty="0" smtClean="0"/>
              <a:t>)</a:t>
            </a:r>
          </a:p>
          <a:p>
            <a:pPr marL="457200" indent="-457200">
              <a:buFont typeface="+mj-lt"/>
              <a:buAutoNum type="arabicPeriod"/>
            </a:pPr>
            <a:r>
              <a:rPr lang="en-IN" sz="2000" dirty="0"/>
              <a:t>Network Mode: Bridged </a:t>
            </a:r>
            <a:r>
              <a:rPr lang="en-IN" sz="2000" dirty="0" smtClean="0"/>
              <a:t>Adapter</a:t>
            </a:r>
          </a:p>
          <a:p>
            <a:pPr marL="457200" indent="-457200">
              <a:buFont typeface="+mj-lt"/>
              <a:buAutoNum type="arabicPeriod"/>
            </a:pPr>
            <a:r>
              <a:rPr lang="en-US" sz="2000" dirty="0"/>
              <a:t>GoPhish server configured and </a:t>
            </a:r>
            <a:r>
              <a:rPr lang="en-US" sz="2000" dirty="0" smtClean="0"/>
              <a:t>running</a:t>
            </a:r>
          </a:p>
          <a:p>
            <a:pPr marL="457200" indent="-457200">
              <a:buFont typeface="+mj-lt"/>
              <a:buAutoNum type="arabicPeriod"/>
            </a:pPr>
            <a:r>
              <a:rPr lang="en-IN" sz="2000" dirty="0" smtClean="0"/>
              <a:t>Admin panel accessed via:</a:t>
            </a:r>
            <a:r>
              <a:rPr lang="en-IN" sz="2000" dirty="0"/>
              <a:t> https://localhost:3333</a:t>
            </a:r>
            <a:r>
              <a:rPr lang="en-IN" sz="2400" b="1" dirty="0" smtClean="0"/>
              <a:t/>
            </a:r>
            <a:br>
              <a:rPr lang="en-IN" sz="2400" b="1" dirty="0" smtClean="0"/>
            </a:br>
            <a:r>
              <a:rPr lang="en-IN" sz="2400" b="1" dirty="0" smtClean="0"/>
              <a:t/>
            </a:r>
            <a:br>
              <a:rPr lang="en-IN" sz="2400" b="1" dirty="0" smtClean="0"/>
            </a:br>
            <a:endParaRPr lang="en-IN" sz="2400" b="1" dirty="0"/>
          </a:p>
        </p:txBody>
      </p:sp>
    </p:spTree>
    <p:extLst>
      <p:ext uri="{BB962C8B-B14F-4D97-AF65-F5344CB8AC3E}">
        <p14:creationId xmlns:p14="http://schemas.microsoft.com/office/powerpoint/2010/main" val="34192436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4800"/>
            <a:ext cx="10515600" cy="5872163"/>
          </a:xfrm>
        </p:spPr>
        <p:txBody>
          <a:bodyPr>
            <a:normAutofit/>
          </a:bodyPr>
          <a:lstStyle/>
          <a:p>
            <a:pPr marL="0" indent="0">
              <a:buNone/>
            </a:pPr>
            <a:r>
              <a:rPr lang="en-IN" sz="2400" b="1" dirty="0" smtClean="0"/>
              <a:t>Step 1: Target </a:t>
            </a:r>
            <a:r>
              <a:rPr lang="en-IN" sz="2400" b="1" dirty="0"/>
              <a:t>Group </a:t>
            </a:r>
            <a:r>
              <a:rPr lang="en-IN" sz="2400" b="1" dirty="0" smtClean="0"/>
              <a:t>Creation</a:t>
            </a:r>
          </a:p>
          <a:p>
            <a:pPr marL="457200" indent="-457200">
              <a:buFont typeface="+mj-lt"/>
              <a:buAutoNum type="arabicPeriod"/>
            </a:pPr>
            <a:r>
              <a:rPr lang="en-US" sz="2000" dirty="0"/>
              <a:t>Created a test group of </a:t>
            </a:r>
            <a:r>
              <a:rPr lang="en-US" sz="2000" dirty="0" smtClean="0"/>
              <a:t>users</a:t>
            </a:r>
          </a:p>
          <a:p>
            <a:pPr marL="457200" indent="-457200">
              <a:buFont typeface="+mj-lt"/>
              <a:buAutoNum type="arabicPeriod"/>
            </a:pPr>
            <a:r>
              <a:rPr lang="en-US" sz="2000" dirty="0"/>
              <a:t>Added email addresses for </a:t>
            </a:r>
            <a:r>
              <a:rPr lang="en-US" sz="2000" dirty="0" smtClean="0"/>
              <a:t>simulation</a:t>
            </a:r>
          </a:p>
          <a:p>
            <a:pPr marL="457200" indent="-457200">
              <a:buFont typeface="+mj-lt"/>
              <a:buAutoNum type="arabicPeriod"/>
            </a:pPr>
            <a:r>
              <a:rPr lang="en-IN" sz="2000" dirty="0" smtClean="0"/>
              <a:t>Example:-  Name - Aadi Mathur </a:t>
            </a:r>
            <a:br>
              <a:rPr lang="en-IN" sz="2000" dirty="0" smtClean="0"/>
            </a:br>
            <a:r>
              <a:rPr lang="en-IN" sz="2000" dirty="0" smtClean="0"/>
              <a:t>                    E-mail - test email</a:t>
            </a:r>
          </a:p>
          <a:p>
            <a:pPr marL="0" indent="0">
              <a:buNone/>
            </a:pPr>
            <a:r>
              <a:rPr lang="en-IN" sz="2400" b="1" dirty="0" smtClean="0"/>
              <a:t>Step 2: Email </a:t>
            </a:r>
            <a:r>
              <a:rPr lang="en-IN" sz="2400" b="1" dirty="0"/>
              <a:t>Template </a:t>
            </a:r>
            <a:r>
              <a:rPr lang="en-IN" sz="2400" b="1" dirty="0" smtClean="0"/>
              <a:t>Creation</a:t>
            </a:r>
          </a:p>
          <a:p>
            <a:pPr marL="457200" indent="-457200">
              <a:buFont typeface="+mj-lt"/>
              <a:buAutoNum type="arabicPeriod"/>
            </a:pPr>
            <a:r>
              <a:rPr lang="en-IN" sz="2000" dirty="0"/>
              <a:t>Designed phishing </a:t>
            </a:r>
            <a:r>
              <a:rPr lang="en-IN" sz="2000" dirty="0" smtClean="0"/>
              <a:t>email</a:t>
            </a:r>
          </a:p>
          <a:p>
            <a:pPr marL="457200" indent="-457200">
              <a:buFont typeface="+mj-lt"/>
              <a:buAutoNum type="arabicPeriod"/>
            </a:pPr>
            <a:r>
              <a:rPr lang="en-IN" sz="2000" dirty="0"/>
              <a:t>Example</a:t>
            </a:r>
            <a:r>
              <a:rPr lang="en-IN" sz="2000" dirty="0" smtClean="0"/>
              <a:t>:- </a:t>
            </a:r>
            <a:r>
              <a:rPr lang="en-IN" sz="2000" dirty="0"/>
              <a:t>Subject: “Urgent Password Reset”</a:t>
            </a:r>
            <a:br>
              <a:rPr lang="en-IN" sz="2000" dirty="0"/>
            </a:br>
            <a:r>
              <a:rPr lang="en-IN" sz="2000" dirty="0" smtClean="0"/>
              <a:t>                   Message </a:t>
            </a:r>
            <a:r>
              <a:rPr lang="en-IN" sz="2000" dirty="0"/>
              <a:t>includes malicious </a:t>
            </a:r>
            <a:r>
              <a:rPr lang="en-IN" sz="2000" dirty="0" smtClean="0"/>
              <a:t>link</a:t>
            </a:r>
          </a:p>
          <a:p>
            <a:pPr marL="457200" indent="-457200">
              <a:buFont typeface="+mj-lt"/>
              <a:buAutoNum type="arabicPeriod"/>
            </a:pPr>
            <a:r>
              <a:rPr lang="en-IN" sz="2000" dirty="0" smtClean="0"/>
              <a:t>Used dynamic URL</a:t>
            </a:r>
          </a:p>
          <a:p>
            <a:pPr marL="0" indent="0">
              <a:buNone/>
            </a:pPr>
            <a:r>
              <a:rPr lang="en-IN" sz="2400" b="1" dirty="0" smtClean="0"/>
              <a:t>Step 3: Landing </a:t>
            </a:r>
            <a:r>
              <a:rPr lang="en-IN" sz="2400" b="1" dirty="0"/>
              <a:t>Page Setup          </a:t>
            </a:r>
            <a:endParaRPr lang="en-IN" sz="2400" b="1" dirty="0" smtClean="0"/>
          </a:p>
          <a:p>
            <a:pPr marL="457200" indent="-457200">
              <a:buFont typeface="+mj-lt"/>
              <a:buAutoNum type="arabicPeriod"/>
            </a:pPr>
            <a:r>
              <a:rPr lang="en-IN" sz="2400" dirty="0" smtClean="0"/>
              <a:t>Created a fake login page &gt; Captures: Username and Passwords </a:t>
            </a:r>
          </a:p>
          <a:p>
            <a:pPr marL="457200" indent="-457200">
              <a:buFont typeface="+mj-lt"/>
              <a:buAutoNum type="arabicPeriod"/>
            </a:pPr>
            <a:r>
              <a:rPr lang="en-IN" sz="2400" dirty="0" smtClean="0"/>
              <a:t>Enabled: Capture submitted data</a:t>
            </a:r>
            <a:br>
              <a:rPr lang="en-IN" sz="2400" dirty="0" smtClean="0"/>
            </a:br>
            <a:r>
              <a:rPr lang="en-IN" sz="2400" dirty="0" smtClean="0"/>
              <a:t>                 Capture passwords </a:t>
            </a:r>
            <a:endParaRPr lang="en-IN" sz="2400" dirty="0"/>
          </a:p>
        </p:txBody>
      </p:sp>
    </p:spTree>
    <p:extLst>
      <p:ext uri="{BB962C8B-B14F-4D97-AF65-F5344CB8AC3E}">
        <p14:creationId xmlns:p14="http://schemas.microsoft.com/office/powerpoint/2010/main" val="35843849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3137"/>
            <a:ext cx="10515600" cy="5743826"/>
          </a:xfrm>
        </p:spPr>
        <p:txBody>
          <a:bodyPr>
            <a:noAutofit/>
          </a:bodyPr>
          <a:lstStyle/>
          <a:p>
            <a:pPr marL="0" indent="0">
              <a:buNone/>
            </a:pPr>
            <a:r>
              <a:rPr lang="en-IN" sz="2400" b="1" dirty="0" smtClean="0"/>
              <a:t>Step 4: Sending </a:t>
            </a:r>
            <a:r>
              <a:rPr lang="en-IN" sz="2400" b="1" dirty="0"/>
              <a:t>Profile </a:t>
            </a:r>
            <a:r>
              <a:rPr lang="en-IN" sz="2400" b="1" dirty="0" smtClean="0"/>
              <a:t>Configuration</a:t>
            </a:r>
          </a:p>
          <a:p>
            <a:pPr marL="514350" indent="-514350">
              <a:buFont typeface="+mj-lt"/>
              <a:buAutoNum type="arabicPeriod"/>
            </a:pPr>
            <a:r>
              <a:rPr lang="en-IN" sz="2000" dirty="0"/>
              <a:t>Configured SMTP using </a:t>
            </a:r>
            <a:r>
              <a:rPr lang="en-IN" sz="2000" dirty="0" smtClean="0"/>
              <a:t>Gmail</a:t>
            </a:r>
          </a:p>
          <a:p>
            <a:pPr marL="514350" indent="-514350">
              <a:buFont typeface="+mj-lt"/>
              <a:buAutoNum type="arabicPeriod"/>
            </a:pPr>
            <a:r>
              <a:rPr lang="en-US" sz="2000" dirty="0"/>
              <a:t>Used App Password for </a:t>
            </a:r>
            <a:r>
              <a:rPr lang="en-US" sz="2000" dirty="0" smtClean="0"/>
              <a:t>authentication</a:t>
            </a:r>
          </a:p>
          <a:p>
            <a:pPr marL="514350" indent="-514350">
              <a:buFont typeface="+mj-lt"/>
              <a:buAutoNum type="arabicPeriod"/>
            </a:pPr>
            <a:r>
              <a:rPr lang="en-IN" sz="2000" dirty="0"/>
              <a:t>Verified using test </a:t>
            </a:r>
            <a:r>
              <a:rPr lang="en-IN" sz="2000" dirty="0" smtClean="0"/>
              <a:t>email</a:t>
            </a:r>
          </a:p>
          <a:p>
            <a:pPr marL="0" indent="0">
              <a:buNone/>
            </a:pPr>
            <a:r>
              <a:rPr lang="en-IN" sz="2400" b="1" dirty="0" smtClean="0"/>
              <a:t>Step 5: Campaign </a:t>
            </a:r>
            <a:r>
              <a:rPr lang="en-IN" sz="2400" b="1" dirty="0" smtClean="0"/>
              <a:t>Creation</a:t>
            </a:r>
          </a:p>
          <a:p>
            <a:pPr marL="457200" indent="-457200">
              <a:buFont typeface="+mj-lt"/>
              <a:buAutoNum type="arabicPeriod"/>
            </a:pPr>
            <a:r>
              <a:rPr lang="en-IN" sz="2000" dirty="0"/>
              <a:t>Selected</a:t>
            </a:r>
            <a:r>
              <a:rPr lang="en-IN" sz="2000" dirty="0" smtClean="0"/>
              <a:t>: Email Template </a:t>
            </a:r>
            <a:br>
              <a:rPr lang="en-IN" sz="2000" dirty="0" smtClean="0"/>
            </a:br>
            <a:r>
              <a:rPr lang="en-IN" sz="2000" dirty="0" smtClean="0"/>
              <a:t>                  Landing Page </a:t>
            </a:r>
            <a:br>
              <a:rPr lang="en-IN" sz="2000" dirty="0" smtClean="0"/>
            </a:br>
            <a:r>
              <a:rPr lang="en-IN" sz="2000" dirty="0" smtClean="0"/>
              <a:t>                  Target Group</a:t>
            </a:r>
            <a:br>
              <a:rPr lang="en-IN" sz="2000" dirty="0" smtClean="0"/>
            </a:br>
            <a:r>
              <a:rPr lang="en-IN" sz="2000" dirty="0" smtClean="0"/>
              <a:t>                   Sending Profile </a:t>
            </a:r>
          </a:p>
          <a:p>
            <a:pPr marL="457200" indent="-457200">
              <a:buFont typeface="+mj-lt"/>
              <a:buAutoNum type="arabicPeriod"/>
            </a:pPr>
            <a:r>
              <a:rPr lang="en-IN" sz="2000" dirty="0" smtClean="0"/>
              <a:t>Configured </a:t>
            </a:r>
            <a:r>
              <a:rPr lang="en-IN" sz="2000" dirty="0"/>
              <a:t>phishing server </a:t>
            </a:r>
            <a:r>
              <a:rPr lang="en-IN" sz="2000" dirty="0" smtClean="0"/>
              <a:t>URL</a:t>
            </a:r>
          </a:p>
          <a:p>
            <a:pPr marL="0" indent="0">
              <a:buNone/>
            </a:pPr>
            <a:r>
              <a:rPr lang="en-IN" sz="2400" b="1" dirty="0" smtClean="0"/>
              <a:t>Step 6: Campaign </a:t>
            </a:r>
            <a:r>
              <a:rPr lang="en-IN" sz="2400" b="1" dirty="0" smtClean="0"/>
              <a:t>Execution</a:t>
            </a:r>
          </a:p>
          <a:p>
            <a:pPr marL="457200" indent="-457200">
              <a:buFont typeface="+mj-lt"/>
              <a:buAutoNum type="arabicPeriod"/>
            </a:pPr>
            <a:r>
              <a:rPr lang="en-US" sz="2000" dirty="0"/>
              <a:t>Campaign launched successfully </a:t>
            </a:r>
          </a:p>
          <a:p>
            <a:pPr marL="457200" indent="-457200">
              <a:buFont typeface="+mj-lt"/>
              <a:buAutoNum type="arabicPeriod"/>
            </a:pPr>
            <a:r>
              <a:rPr lang="en-US" sz="2000" dirty="0"/>
              <a:t>Phishing emails sent to target users </a:t>
            </a:r>
          </a:p>
          <a:p>
            <a:pPr marL="457200" indent="-457200">
              <a:buFont typeface="+mj-lt"/>
              <a:buAutoNum type="arabicPeriod"/>
            </a:pPr>
            <a:r>
              <a:rPr lang="en-US" sz="2000" dirty="0"/>
              <a:t>Users interacted with email links </a:t>
            </a:r>
          </a:p>
          <a:p>
            <a:pPr marL="0" indent="0">
              <a:buNone/>
            </a:pPr>
            <a:r>
              <a:rPr lang="en-IN" sz="2400" b="1" dirty="0" smtClean="0"/>
              <a:t/>
            </a:r>
            <a:br>
              <a:rPr lang="en-IN" sz="2400" b="1" dirty="0" smtClean="0"/>
            </a:br>
            <a:endParaRPr lang="en-IN" sz="2400" b="1" dirty="0"/>
          </a:p>
        </p:txBody>
      </p:sp>
    </p:spTree>
    <p:extLst>
      <p:ext uri="{BB962C8B-B14F-4D97-AF65-F5344CB8AC3E}">
        <p14:creationId xmlns:p14="http://schemas.microsoft.com/office/powerpoint/2010/main" val="12698790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52926"/>
            <a:ext cx="10515600" cy="5824037"/>
          </a:xfrm>
        </p:spPr>
        <p:txBody>
          <a:bodyPr>
            <a:noAutofit/>
          </a:bodyPr>
          <a:lstStyle/>
          <a:p>
            <a:pPr marL="0" indent="0">
              <a:buNone/>
            </a:pPr>
            <a:r>
              <a:rPr lang="en-IN" sz="2400" b="1" dirty="0" smtClean="0"/>
              <a:t>Step 7: Monitoring </a:t>
            </a:r>
            <a:r>
              <a:rPr lang="en-IN" sz="2400" b="1" dirty="0"/>
              <a:t>&amp; </a:t>
            </a:r>
            <a:r>
              <a:rPr lang="en-IN" sz="2400" b="1" dirty="0" smtClean="0"/>
              <a:t>Results</a:t>
            </a:r>
          </a:p>
          <a:p>
            <a:pPr marL="457200" indent="-457200">
              <a:buFont typeface="+mj-lt"/>
              <a:buAutoNum type="arabicPeriod"/>
            </a:pPr>
            <a:r>
              <a:rPr lang="en-IN" sz="2000" dirty="0"/>
              <a:t>Tracked</a:t>
            </a:r>
            <a:r>
              <a:rPr lang="en-IN" sz="2000" dirty="0" smtClean="0"/>
              <a:t>: Email opened</a:t>
            </a:r>
            <a:br>
              <a:rPr lang="en-IN" sz="2000" dirty="0" smtClean="0"/>
            </a:br>
            <a:r>
              <a:rPr lang="en-IN" sz="2000" dirty="0" smtClean="0"/>
              <a:t>                Link clicked </a:t>
            </a:r>
            <a:br>
              <a:rPr lang="en-IN" sz="2000" dirty="0" smtClean="0"/>
            </a:br>
            <a:r>
              <a:rPr lang="en-IN" sz="2000" dirty="0" smtClean="0"/>
              <a:t>                 Credentials submitted </a:t>
            </a:r>
          </a:p>
          <a:p>
            <a:pPr marL="457200" indent="-457200">
              <a:buFont typeface="+mj-lt"/>
              <a:buAutoNum type="arabicPeriod"/>
            </a:pPr>
            <a:r>
              <a:rPr lang="en-IN" sz="2000" dirty="0" smtClean="0"/>
              <a:t>Da</a:t>
            </a:r>
            <a:r>
              <a:rPr lang="en-US" sz="2000" dirty="0" smtClean="0"/>
              <a:t>ta </a:t>
            </a:r>
            <a:r>
              <a:rPr lang="en-US" sz="2000" dirty="0"/>
              <a:t>recorded in GoPhish </a:t>
            </a:r>
            <a:r>
              <a:rPr lang="en-US" sz="2000" dirty="0" smtClean="0"/>
              <a:t>dashboard</a:t>
            </a:r>
          </a:p>
          <a:p>
            <a:pPr marL="0" indent="0">
              <a:buNone/>
            </a:pPr>
            <a:r>
              <a:rPr lang="en-IN" sz="2000" b="1" dirty="0" smtClean="0"/>
              <a:t/>
            </a:r>
            <a:br>
              <a:rPr lang="en-IN" sz="2000" b="1" dirty="0" smtClean="0"/>
            </a:br>
            <a:r>
              <a:rPr lang="en-IN" dirty="0" smtClean="0"/>
              <a:t/>
            </a:r>
            <a:br>
              <a:rPr lang="en-IN" dirty="0" smtClean="0"/>
            </a:b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8870" y="2198067"/>
            <a:ext cx="10058400" cy="4540664"/>
          </a:xfrm>
          <a:prstGeom prst="rect">
            <a:avLst/>
          </a:prstGeom>
        </p:spPr>
      </p:pic>
    </p:spTree>
    <p:extLst>
      <p:ext uri="{BB962C8B-B14F-4D97-AF65-F5344CB8AC3E}">
        <p14:creationId xmlns:p14="http://schemas.microsoft.com/office/powerpoint/2010/main" val="213902045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01053"/>
            <a:ext cx="10515600" cy="5775910"/>
          </a:xfrm>
        </p:spPr>
        <p:txBody>
          <a:bodyPr>
            <a:normAutofit/>
          </a:bodyPr>
          <a:lstStyle/>
          <a:p>
            <a:pPr marL="0" indent="0">
              <a:buNone/>
            </a:pPr>
            <a:r>
              <a:rPr lang="en-IN" sz="2400" b="1" dirty="0" smtClean="0"/>
              <a:t>Step 8: Analysis</a:t>
            </a:r>
            <a:endParaRPr lang="en-IN" sz="2400" dirty="0"/>
          </a:p>
          <a:p>
            <a:pPr marL="514350" indent="-514350">
              <a:buFont typeface="+mj-lt"/>
              <a:buAutoNum type="arabicPeriod"/>
            </a:pPr>
            <a:r>
              <a:rPr lang="en-IN" sz="2000" dirty="0"/>
              <a:t>Identified user vulnerability </a:t>
            </a:r>
            <a:endParaRPr lang="en-IN" sz="2000" dirty="0"/>
          </a:p>
          <a:p>
            <a:pPr marL="514350" indent="-514350">
              <a:buFont typeface="+mj-lt"/>
              <a:buAutoNum type="arabicPeriod"/>
            </a:pPr>
            <a:r>
              <a:rPr lang="en-IN" sz="2000" dirty="0"/>
              <a:t>Measured awareness level</a:t>
            </a:r>
            <a:endParaRPr lang="en-IN" sz="2000" dirty="0"/>
          </a:p>
          <a:p>
            <a:pPr marL="514350" indent="-514350">
              <a:buFont typeface="+mj-lt"/>
              <a:buAutoNum type="arabicPeriod"/>
            </a:pPr>
            <a:r>
              <a:rPr lang="en-IN" sz="2000" dirty="0"/>
              <a:t>Observed response behaviour </a:t>
            </a:r>
            <a:endParaRPr lang="en-IN" sz="2000" dirty="0"/>
          </a:p>
          <a:p>
            <a:r>
              <a:rPr lang="en-IN" sz="2400" b="1" dirty="0"/>
              <a:t>Conclusion</a:t>
            </a:r>
            <a:endParaRPr lang="en-IN" sz="2400" dirty="0"/>
          </a:p>
          <a:p>
            <a:pPr marL="457200" indent="-457200">
              <a:buFont typeface="+mj-lt"/>
              <a:buAutoNum type="arabicPeriod"/>
            </a:pPr>
            <a:r>
              <a:rPr lang="en-IN" sz="2000" dirty="0"/>
              <a:t>P</a:t>
            </a:r>
            <a:r>
              <a:rPr lang="en-US" sz="2000" dirty="0" err="1"/>
              <a:t>hishing</a:t>
            </a:r>
            <a:r>
              <a:rPr lang="en-US" sz="2000" dirty="0"/>
              <a:t> attacks exploit human trust</a:t>
            </a:r>
            <a:endParaRPr lang="en-IN" sz="2000" dirty="0"/>
          </a:p>
          <a:p>
            <a:pPr marL="457200" indent="-457200">
              <a:buFont typeface="+mj-lt"/>
              <a:buAutoNum type="arabicPeriod"/>
            </a:pPr>
            <a:r>
              <a:rPr lang="en-US" sz="2000" dirty="0"/>
              <a:t>Simulation helps identify weak points</a:t>
            </a:r>
            <a:endParaRPr lang="en-IN" sz="2000" dirty="0"/>
          </a:p>
          <a:p>
            <a:pPr marL="457200" indent="-457200">
              <a:buFont typeface="+mj-lt"/>
              <a:buAutoNum type="arabicPeriod"/>
            </a:pPr>
            <a:r>
              <a:rPr lang="en-IN" sz="2000" dirty="0"/>
              <a:t>Regular training reduces risk</a:t>
            </a:r>
            <a:endParaRPr lang="en-IN" sz="2000" b="1" dirty="0" smtClean="0"/>
          </a:p>
          <a:p>
            <a:r>
              <a:rPr lang="en-IN" sz="2400" b="1" dirty="0" smtClean="0"/>
              <a:t>Ethical Considerations</a:t>
            </a:r>
          </a:p>
          <a:p>
            <a:pPr marL="457200" indent="-457200">
              <a:buFont typeface="+mj-lt"/>
              <a:buAutoNum type="arabicPeriod"/>
            </a:pPr>
            <a:r>
              <a:rPr lang="en-IN" sz="2000" dirty="0" smtClean="0"/>
              <a:t>Conducted </a:t>
            </a:r>
            <a:r>
              <a:rPr lang="en-IN" sz="2000" dirty="0" smtClean="0"/>
              <a:t>in controlled environment </a:t>
            </a:r>
          </a:p>
          <a:p>
            <a:pPr marL="457200" indent="-457200">
              <a:buFont typeface="+mj-lt"/>
              <a:buAutoNum type="arabicPeriod"/>
            </a:pPr>
            <a:r>
              <a:rPr lang="en-IN" sz="2000" dirty="0" smtClean="0"/>
              <a:t>User Consent taken</a:t>
            </a:r>
          </a:p>
          <a:p>
            <a:pPr marL="457200" indent="-457200">
              <a:buFont typeface="+mj-lt"/>
              <a:buAutoNum type="arabicPeriod"/>
            </a:pPr>
            <a:r>
              <a:rPr lang="en-IN" sz="2000" dirty="0" smtClean="0"/>
              <a:t>No real data misused </a:t>
            </a:r>
            <a:endParaRPr lang="en-IN" sz="2000" dirty="0"/>
          </a:p>
        </p:txBody>
      </p:sp>
    </p:spTree>
    <p:extLst>
      <p:ext uri="{BB962C8B-B14F-4D97-AF65-F5344CB8AC3E}">
        <p14:creationId xmlns:p14="http://schemas.microsoft.com/office/powerpoint/2010/main" val="72047920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b="1" dirty="0"/>
              <a:t>Recommendations &amp; Future Prevention</a:t>
            </a:r>
          </a:p>
        </p:txBody>
      </p:sp>
      <p:sp>
        <p:nvSpPr>
          <p:cNvPr id="3" name="Content Placeholder 2"/>
          <p:cNvSpPr>
            <a:spLocks noGrp="1"/>
          </p:cNvSpPr>
          <p:nvPr>
            <p:ph idx="1"/>
          </p:nvPr>
        </p:nvSpPr>
        <p:spPr/>
        <p:txBody>
          <a:bodyPr>
            <a:noAutofit/>
          </a:bodyPr>
          <a:lstStyle/>
          <a:p>
            <a:r>
              <a:rPr lang="en-IN" sz="2400" b="1" dirty="0"/>
              <a:t>Employee Awareness &amp; </a:t>
            </a:r>
            <a:r>
              <a:rPr lang="en-IN" sz="2400" b="1" dirty="0" smtClean="0"/>
              <a:t>Training</a:t>
            </a:r>
            <a:r>
              <a:rPr lang="en-IN" dirty="0" smtClean="0"/>
              <a:t/>
            </a:r>
            <a:br>
              <a:rPr lang="en-IN" dirty="0" smtClean="0"/>
            </a:br>
            <a:r>
              <a:rPr lang="en-US" sz="2000" dirty="0"/>
              <a:t>Human error is the biggest factor in phishing attacks. Organizations should</a:t>
            </a:r>
            <a:r>
              <a:rPr lang="en-US" sz="2000" dirty="0" smtClean="0"/>
              <a:t>:</a:t>
            </a:r>
          </a:p>
          <a:p>
            <a:pPr marL="514350" indent="-514350">
              <a:buFont typeface="+mj-lt"/>
              <a:buAutoNum type="arabicPeriod"/>
            </a:pPr>
            <a:r>
              <a:rPr lang="en-US" sz="2000" dirty="0"/>
              <a:t>Conduct regular cybersecurity awareness sessions </a:t>
            </a:r>
          </a:p>
          <a:p>
            <a:pPr marL="514350" indent="-514350">
              <a:buFont typeface="+mj-lt"/>
              <a:buAutoNum type="arabicPeriod"/>
            </a:pPr>
            <a:r>
              <a:rPr lang="en-US" sz="2000" dirty="0"/>
              <a:t>Run simulated phishing campaigns to test employees </a:t>
            </a:r>
          </a:p>
          <a:p>
            <a:pPr marL="514350" indent="-514350">
              <a:buFont typeface="+mj-lt"/>
              <a:buAutoNum type="arabicPeriod"/>
            </a:pPr>
            <a:r>
              <a:rPr lang="en-US" sz="2000" dirty="0"/>
              <a:t>Train staff to identify suspicious emails, links, and attachments </a:t>
            </a:r>
          </a:p>
          <a:p>
            <a:pPr marL="514350" indent="-514350">
              <a:buFont typeface="+mj-lt"/>
              <a:buAutoNum type="arabicPeriod"/>
            </a:pPr>
            <a:r>
              <a:rPr lang="en-US" sz="2000" dirty="0"/>
              <a:t>Promote a “report-first” culture without fear </a:t>
            </a:r>
            <a:endParaRPr lang="en-US" sz="2000" dirty="0" smtClean="0"/>
          </a:p>
          <a:p>
            <a:r>
              <a:rPr lang="en-IN" sz="2400" b="1" dirty="0"/>
              <a:t>Multi-Factor Authentication (MFA</a:t>
            </a:r>
            <a:r>
              <a:rPr lang="en-IN" sz="2400" b="1" dirty="0" smtClean="0"/>
              <a:t>)</a:t>
            </a:r>
          </a:p>
          <a:p>
            <a:pPr marL="457200" indent="-457200">
              <a:buFont typeface="+mj-lt"/>
              <a:buAutoNum type="arabicPeriod"/>
            </a:pPr>
            <a:r>
              <a:rPr lang="en-US" sz="2000" dirty="0"/>
              <a:t>Enforce MFA across all critical systems (email, VPN, cloud apps</a:t>
            </a:r>
            <a:r>
              <a:rPr lang="en-US" sz="2000" dirty="0" smtClean="0"/>
              <a:t>)</a:t>
            </a:r>
          </a:p>
          <a:p>
            <a:pPr marL="457200" indent="-457200">
              <a:buFont typeface="+mj-lt"/>
              <a:buAutoNum type="arabicPeriod"/>
            </a:pPr>
            <a:r>
              <a:rPr lang="en-US" sz="2000" dirty="0"/>
              <a:t>Even if credentials are compromised, unauthorized access can be prevented</a:t>
            </a:r>
            <a:endParaRPr lang="en-US" sz="2000" b="1" dirty="0"/>
          </a:p>
          <a:p>
            <a:pPr marL="0" indent="0">
              <a:buNone/>
            </a:pPr>
            <a:r>
              <a:rPr lang="en-IN" dirty="0" smtClean="0"/>
              <a:t/>
            </a:r>
            <a:br>
              <a:rPr lang="en-IN" dirty="0" smtClean="0"/>
            </a:br>
            <a:endParaRPr lang="en-IN" dirty="0"/>
          </a:p>
        </p:txBody>
      </p:sp>
    </p:spTree>
    <p:extLst>
      <p:ext uri="{BB962C8B-B14F-4D97-AF65-F5344CB8AC3E}">
        <p14:creationId xmlns:p14="http://schemas.microsoft.com/office/powerpoint/2010/main" val="412548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968"/>
            <a:ext cx="10515600" cy="5807995"/>
          </a:xfrm>
        </p:spPr>
        <p:txBody>
          <a:bodyPr>
            <a:noAutofit/>
          </a:bodyPr>
          <a:lstStyle/>
          <a:p>
            <a:r>
              <a:rPr lang="en-IN" sz="2400" b="1" dirty="0"/>
              <a:t>Email Security </a:t>
            </a:r>
            <a:r>
              <a:rPr lang="en-IN" sz="2400" b="1" dirty="0" smtClean="0"/>
              <a:t>Enhancements</a:t>
            </a:r>
          </a:p>
          <a:p>
            <a:pPr marL="514350" indent="-514350">
              <a:buFont typeface="+mj-lt"/>
              <a:buAutoNum type="arabicPeriod"/>
            </a:pPr>
            <a:r>
              <a:rPr lang="en-US" sz="2000" dirty="0"/>
              <a:t>Deploy advanced email filtering solutions (anti-phishing gateways</a:t>
            </a:r>
            <a:r>
              <a:rPr lang="en-US" sz="2000" dirty="0" smtClean="0"/>
              <a:t>)</a:t>
            </a:r>
          </a:p>
          <a:p>
            <a:pPr marL="514350" indent="-514350">
              <a:buFont typeface="+mj-lt"/>
              <a:buAutoNum type="arabicPeriod"/>
            </a:pPr>
            <a:r>
              <a:rPr lang="en-US" sz="2000" dirty="0"/>
              <a:t>Enable </a:t>
            </a:r>
            <a:r>
              <a:rPr lang="en-US" sz="2000" b="1" dirty="0"/>
              <a:t>SPF, DKIM, and DMARC</a:t>
            </a:r>
            <a:r>
              <a:rPr lang="en-US" sz="2000" dirty="0"/>
              <a:t> to prevent email </a:t>
            </a:r>
            <a:r>
              <a:rPr lang="en-US" sz="2000" dirty="0" smtClean="0"/>
              <a:t>spoofing</a:t>
            </a:r>
          </a:p>
          <a:p>
            <a:pPr marL="514350" indent="-514350">
              <a:buFont typeface="+mj-lt"/>
              <a:buAutoNum type="arabicPeriod"/>
            </a:pPr>
            <a:r>
              <a:rPr lang="en-US" sz="2000" dirty="0"/>
              <a:t>Block suspicious </a:t>
            </a:r>
            <a:r>
              <a:rPr lang="en-US" sz="2000" dirty="0" smtClean="0"/>
              <a:t>attachments </a:t>
            </a:r>
            <a:r>
              <a:rPr lang="en-US" sz="2000" dirty="0"/>
              <a:t>and malicious URLs </a:t>
            </a:r>
            <a:r>
              <a:rPr lang="en-US" sz="2000" dirty="0" smtClean="0"/>
              <a:t>automatically</a:t>
            </a:r>
          </a:p>
          <a:p>
            <a:r>
              <a:rPr lang="en-IN" sz="2400" b="1" dirty="0"/>
              <a:t>Endpoint &amp; Network </a:t>
            </a:r>
            <a:r>
              <a:rPr lang="en-IN" sz="2400" b="1" dirty="0" smtClean="0"/>
              <a:t>Security</a:t>
            </a:r>
          </a:p>
          <a:p>
            <a:pPr marL="457200" indent="-457200">
              <a:buFont typeface="+mj-lt"/>
              <a:buAutoNum type="arabicPeriod"/>
            </a:pPr>
            <a:r>
              <a:rPr lang="en-US" sz="2000" dirty="0"/>
              <a:t>Install updated antivirus/EDR solutions on all </a:t>
            </a:r>
            <a:r>
              <a:rPr lang="en-US" sz="2000" dirty="0" smtClean="0"/>
              <a:t>systems</a:t>
            </a:r>
          </a:p>
          <a:p>
            <a:pPr marL="457200" indent="-457200">
              <a:buFont typeface="+mj-lt"/>
              <a:buAutoNum type="arabicPeriod"/>
            </a:pPr>
            <a:r>
              <a:rPr lang="en-US" sz="2000" dirty="0"/>
              <a:t>Keep OS and software patched </a:t>
            </a:r>
            <a:r>
              <a:rPr lang="en-US" sz="2000" dirty="0" smtClean="0"/>
              <a:t>regularly</a:t>
            </a:r>
          </a:p>
          <a:p>
            <a:pPr marL="457200" indent="-457200">
              <a:buFont typeface="+mj-lt"/>
              <a:buAutoNum type="arabicPeriod"/>
            </a:pPr>
            <a:r>
              <a:rPr lang="en-US" sz="2000" dirty="0"/>
              <a:t>Use firewalls and intrusion detection/prevention systems (IDS/IPS</a:t>
            </a:r>
            <a:r>
              <a:rPr lang="en-US" sz="2000" dirty="0" smtClean="0"/>
              <a:t>)</a:t>
            </a:r>
          </a:p>
          <a:p>
            <a:pPr marL="457200" indent="-457200">
              <a:buFont typeface="+mj-lt"/>
              <a:buAutoNum type="arabicPeriod"/>
            </a:pPr>
            <a:r>
              <a:rPr lang="en-US" sz="2000" dirty="0"/>
              <a:t>Restrict access based on least privilege principle</a:t>
            </a:r>
          </a:p>
          <a:p>
            <a:r>
              <a:rPr lang="en-IN" sz="2400" b="1" dirty="0"/>
              <a:t>Incident Response </a:t>
            </a:r>
            <a:r>
              <a:rPr lang="en-IN" sz="2400" b="1" dirty="0" smtClean="0"/>
              <a:t>Plan</a:t>
            </a:r>
          </a:p>
          <a:p>
            <a:pPr marL="457200" indent="-457200">
              <a:buFont typeface="+mj-lt"/>
              <a:buAutoNum type="arabicPeriod"/>
            </a:pPr>
            <a:r>
              <a:rPr lang="en-US" sz="2000" dirty="0"/>
              <a:t>Develop a clear incident response </a:t>
            </a:r>
            <a:r>
              <a:rPr lang="en-US" sz="2000" dirty="0" smtClean="0"/>
              <a:t>strategy</a:t>
            </a:r>
          </a:p>
          <a:p>
            <a:pPr marL="457200" indent="-457200">
              <a:buFont typeface="+mj-lt"/>
              <a:buAutoNum type="arabicPeriod"/>
            </a:pPr>
            <a:r>
              <a:rPr lang="en-US" sz="2000" dirty="0"/>
              <a:t>Define roles and responsibilities during an </a:t>
            </a:r>
            <a:r>
              <a:rPr lang="en-US" sz="2000" dirty="0" smtClean="0"/>
              <a:t>attack</a:t>
            </a:r>
          </a:p>
          <a:p>
            <a:pPr marL="457200" indent="-457200">
              <a:buFont typeface="+mj-lt"/>
              <a:buAutoNum type="arabicPeriod"/>
            </a:pPr>
            <a:r>
              <a:rPr lang="en-US" sz="2000" dirty="0"/>
              <a:t>Ensure quick isolation of compromised </a:t>
            </a:r>
            <a:r>
              <a:rPr lang="en-US" sz="2000" dirty="0" smtClean="0"/>
              <a:t>systems</a:t>
            </a:r>
          </a:p>
          <a:p>
            <a:pPr marL="457200" indent="-457200">
              <a:buFont typeface="+mj-lt"/>
              <a:buAutoNum type="arabicPeriod"/>
            </a:pPr>
            <a:r>
              <a:rPr lang="en-US" sz="2000" dirty="0"/>
              <a:t>Maintain logs for forensic investigation </a:t>
            </a:r>
          </a:p>
          <a:p>
            <a:pPr marL="457200" indent="-457200">
              <a:buFont typeface="+mj-lt"/>
              <a:buAutoNum type="arabicPeriod"/>
            </a:pPr>
            <a:endParaRPr lang="en-IN" sz="2400" b="1" dirty="0"/>
          </a:p>
        </p:txBody>
      </p:sp>
    </p:spTree>
    <p:extLst>
      <p:ext uri="{BB962C8B-B14F-4D97-AF65-F5344CB8AC3E}">
        <p14:creationId xmlns:p14="http://schemas.microsoft.com/office/powerpoint/2010/main" val="262234298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4800"/>
            <a:ext cx="10515600" cy="5872163"/>
          </a:xfrm>
        </p:spPr>
        <p:txBody>
          <a:bodyPr>
            <a:normAutofit/>
          </a:bodyPr>
          <a:lstStyle/>
          <a:p>
            <a:r>
              <a:rPr lang="en-IN" sz="2400" b="1" dirty="0"/>
              <a:t>Strong Password Policies</a:t>
            </a:r>
          </a:p>
          <a:p>
            <a:pPr marL="457200" indent="-457200">
              <a:buFont typeface="+mj-lt"/>
              <a:buAutoNum type="arabicPeriod"/>
            </a:pPr>
            <a:r>
              <a:rPr lang="en-US" sz="2000" dirty="0"/>
              <a:t>Enforce complex passwords with minimum length </a:t>
            </a:r>
            <a:r>
              <a:rPr lang="en-US" sz="2000" dirty="0" smtClean="0"/>
              <a:t>requirements</a:t>
            </a:r>
          </a:p>
          <a:p>
            <a:pPr marL="457200" indent="-457200">
              <a:buFont typeface="+mj-lt"/>
              <a:buAutoNum type="arabicPeriod"/>
            </a:pPr>
            <a:r>
              <a:rPr lang="en-IN" sz="2000" dirty="0"/>
              <a:t>Mandate regular password </a:t>
            </a:r>
            <a:r>
              <a:rPr lang="en-IN" sz="2000" dirty="0" smtClean="0"/>
              <a:t>changes</a:t>
            </a:r>
          </a:p>
          <a:p>
            <a:pPr marL="457200" indent="-457200">
              <a:buFont typeface="+mj-lt"/>
              <a:buAutoNum type="arabicPeriod"/>
            </a:pPr>
            <a:r>
              <a:rPr lang="en-US" sz="2000" dirty="0"/>
              <a:t>Prevent reuse of old </a:t>
            </a:r>
            <a:r>
              <a:rPr lang="en-US" sz="2000" dirty="0" smtClean="0"/>
              <a:t>passwords</a:t>
            </a:r>
          </a:p>
          <a:p>
            <a:pPr marL="457200" indent="-457200">
              <a:buFont typeface="+mj-lt"/>
              <a:buAutoNum type="arabicPeriod"/>
            </a:pPr>
            <a:r>
              <a:rPr lang="en-US" sz="2000" dirty="0"/>
              <a:t>Encourage use of password </a:t>
            </a:r>
            <a:r>
              <a:rPr lang="en-US" sz="2000" dirty="0" smtClean="0"/>
              <a:t>managers</a:t>
            </a:r>
          </a:p>
          <a:p>
            <a:r>
              <a:rPr lang="en-IN" sz="2400" b="1" dirty="0"/>
              <a:t>URL &amp; Website </a:t>
            </a:r>
            <a:r>
              <a:rPr lang="en-IN" sz="2400" b="1" dirty="0" smtClean="0"/>
              <a:t>Protection</a:t>
            </a:r>
          </a:p>
          <a:p>
            <a:pPr marL="457200" indent="-457200">
              <a:buFont typeface="+mj-lt"/>
              <a:buAutoNum type="arabicPeriod"/>
            </a:pPr>
            <a:r>
              <a:rPr lang="en-US" sz="2000" dirty="0"/>
              <a:t>Use web filtering tools to block malicious </a:t>
            </a:r>
            <a:r>
              <a:rPr lang="en-US" sz="2000" dirty="0" smtClean="0"/>
              <a:t>sites</a:t>
            </a:r>
          </a:p>
          <a:p>
            <a:pPr marL="457200" indent="-457200">
              <a:buFont typeface="+mj-lt"/>
              <a:buAutoNum type="arabicPeriod"/>
            </a:pPr>
            <a:r>
              <a:rPr lang="en-IN" sz="2000" dirty="0"/>
              <a:t>Enable browser security </a:t>
            </a:r>
            <a:r>
              <a:rPr lang="en-IN" sz="2000" dirty="0" smtClean="0"/>
              <a:t>warnings</a:t>
            </a:r>
          </a:p>
          <a:p>
            <a:pPr marL="457200" indent="-457200">
              <a:buFont typeface="+mj-lt"/>
              <a:buAutoNum type="arabicPeriod"/>
            </a:pPr>
            <a:r>
              <a:rPr lang="en-US" sz="2000" dirty="0"/>
              <a:t>Educate users to </a:t>
            </a:r>
            <a:r>
              <a:rPr lang="en-US" sz="2000" dirty="0" smtClean="0"/>
              <a:t>verify </a:t>
            </a:r>
            <a:r>
              <a:rPr lang="en-US" sz="2000" dirty="0"/>
              <a:t>URLs before </a:t>
            </a:r>
            <a:r>
              <a:rPr lang="en-US" sz="2000" dirty="0" smtClean="0"/>
              <a:t>clicking</a:t>
            </a:r>
          </a:p>
          <a:p>
            <a:r>
              <a:rPr lang="en-IN" sz="2400" b="1" dirty="0"/>
              <a:t>Data Protection &amp; </a:t>
            </a:r>
            <a:r>
              <a:rPr lang="en-IN" sz="2400" b="1" dirty="0" smtClean="0"/>
              <a:t>Backup</a:t>
            </a:r>
          </a:p>
          <a:p>
            <a:pPr marL="457200" indent="-457200">
              <a:buFont typeface="+mj-lt"/>
              <a:buAutoNum type="arabicPeriod"/>
            </a:pPr>
            <a:r>
              <a:rPr lang="en-US" sz="2000" dirty="0"/>
              <a:t>Encrypt sensitive data both at rest and in </a:t>
            </a:r>
            <a:r>
              <a:rPr lang="en-US" sz="2000" dirty="0" smtClean="0"/>
              <a:t>transit</a:t>
            </a:r>
          </a:p>
          <a:p>
            <a:pPr marL="457200" indent="-457200">
              <a:buFont typeface="+mj-lt"/>
              <a:buAutoNum type="arabicPeriod"/>
            </a:pPr>
            <a:r>
              <a:rPr lang="en-IN" sz="2000" dirty="0"/>
              <a:t>Maintain regular secure </a:t>
            </a:r>
            <a:r>
              <a:rPr lang="en-IN" sz="2000" dirty="0" smtClean="0"/>
              <a:t>backups</a:t>
            </a:r>
          </a:p>
          <a:p>
            <a:pPr marL="457200" indent="-457200">
              <a:buFont typeface="+mj-lt"/>
              <a:buAutoNum type="arabicPeriod"/>
            </a:pPr>
            <a:r>
              <a:rPr lang="en-US" sz="2000" dirty="0"/>
              <a:t>Test backup recovery processes periodically</a:t>
            </a:r>
            <a:endParaRPr lang="en-IN" sz="2000" b="1" dirty="0"/>
          </a:p>
        </p:txBody>
      </p:sp>
    </p:spTree>
    <p:extLst>
      <p:ext uri="{BB962C8B-B14F-4D97-AF65-F5344CB8AC3E}">
        <p14:creationId xmlns:p14="http://schemas.microsoft.com/office/powerpoint/2010/main" val="72504900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79"/>
            <a:ext cx="10515600" cy="5727784"/>
          </a:xfrm>
        </p:spPr>
        <p:txBody>
          <a:bodyPr/>
          <a:lstStyle/>
          <a:p>
            <a:r>
              <a:rPr lang="en-IN" sz="2400" b="1" dirty="0"/>
              <a:t>Continuous Monitoring &amp; Threat </a:t>
            </a:r>
            <a:r>
              <a:rPr lang="en-IN" sz="2400" b="1" dirty="0" smtClean="0"/>
              <a:t>Intelligence</a:t>
            </a:r>
            <a:endParaRPr lang="en-IN" sz="2400" b="1" dirty="0"/>
          </a:p>
          <a:p>
            <a:pPr marL="514350" indent="-514350">
              <a:buFont typeface="+mj-lt"/>
              <a:buAutoNum type="arabicPeriod"/>
            </a:pPr>
            <a:r>
              <a:rPr lang="en-US" sz="2000" dirty="0"/>
              <a:t>Use SIEM tools for real-time </a:t>
            </a:r>
            <a:r>
              <a:rPr lang="en-US" sz="2000" dirty="0" smtClean="0"/>
              <a:t>monitoring</a:t>
            </a:r>
          </a:p>
          <a:p>
            <a:pPr marL="514350" indent="-514350">
              <a:buFont typeface="+mj-lt"/>
              <a:buAutoNum type="arabicPeriod"/>
            </a:pPr>
            <a:r>
              <a:rPr lang="en-US" sz="2000" dirty="0"/>
              <a:t>Analyze logs for suspicious </a:t>
            </a:r>
            <a:r>
              <a:rPr lang="en-US" sz="2000" dirty="0" smtClean="0"/>
              <a:t>behavior</a:t>
            </a:r>
          </a:p>
          <a:p>
            <a:pPr marL="514350" indent="-514350">
              <a:buFont typeface="+mj-lt"/>
              <a:buAutoNum type="arabicPeriod"/>
            </a:pPr>
            <a:r>
              <a:rPr lang="en-US" sz="2000" dirty="0"/>
              <a:t>Subscribe to threat intelligence feeds for latest phishing </a:t>
            </a:r>
            <a:r>
              <a:rPr lang="en-US" sz="2000" dirty="0" smtClean="0"/>
              <a:t>trends</a:t>
            </a:r>
          </a:p>
          <a:p>
            <a:r>
              <a:rPr lang="en-IN" sz="2400" b="1" dirty="0"/>
              <a:t>Zero Trust Security </a:t>
            </a:r>
            <a:r>
              <a:rPr lang="en-IN" sz="2400" b="1" dirty="0" smtClean="0"/>
              <a:t>Model</a:t>
            </a:r>
          </a:p>
          <a:p>
            <a:pPr marL="457200" indent="-457200">
              <a:buFont typeface="+mj-lt"/>
              <a:buAutoNum type="arabicPeriod"/>
            </a:pPr>
            <a:r>
              <a:rPr lang="en-IN" sz="2000" dirty="0"/>
              <a:t>Never trust, always </a:t>
            </a:r>
            <a:r>
              <a:rPr lang="en-IN" sz="2000" dirty="0" smtClean="0"/>
              <a:t>verify</a:t>
            </a:r>
          </a:p>
          <a:p>
            <a:pPr marL="457200" indent="-457200">
              <a:buFont typeface="+mj-lt"/>
              <a:buAutoNum type="arabicPeriod"/>
            </a:pPr>
            <a:r>
              <a:rPr lang="en-US" sz="2000" dirty="0"/>
              <a:t>Authenticate and authorize every access </a:t>
            </a:r>
            <a:r>
              <a:rPr lang="en-US" sz="2000" dirty="0" smtClean="0"/>
              <a:t>request</a:t>
            </a:r>
          </a:p>
          <a:p>
            <a:pPr marL="457200" indent="-457200">
              <a:buFont typeface="+mj-lt"/>
              <a:buAutoNum type="arabicPeriod"/>
            </a:pPr>
            <a:r>
              <a:rPr lang="en-US" sz="2000" dirty="0"/>
              <a:t>Continuously validate users and devices</a:t>
            </a:r>
            <a:endParaRPr lang="en-IN" sz="2000" b="1" dirty="0" smtClean="0"/>
          </a:p>
        </p:txBody>
      </p:sp>
    </p:spTree>
    <p:extLst>
      <p:ext uri="{BB962C8B-B14F-4D97-AF65-F5344CB8AC3E}">
        <p14:creationId xmlns:p14="http://schemas.microsoft.com/office/powerpoint/2010/main" val="218768899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b="1" dirty="0"/>
              <a:t>Ethical &amp; Legal Considerations</a:t>
            </a:r>
          </a:p>
        </p:txBody>
      </p:sp>
      <p:sp>
        <p:nvSpPr>
          <p:cNvPr id="3" name="Content Placeholder 2"/>
          <p:cNvSpPr>
            <a:spLocks noGrp="1"/>
          </p:cNvSpPr>
          <p:nvPr>
            <p:ph idx="1"/>
          </p:nvPr>
        </p:nvSpPr>
        <p:spPr/>
        <p:txBody>
          <a:bodyPr>
            <a:noAutofit/>
          </a:bodyPr>
          <a:lstStyle/>
          <a:p>
            <a:r>
              <a:rPr lang="en-IN" sz="2400" b="1" dirty="0" smtClean="0"/>
              <a:t>Introduction</a:t>
            </a:r>
            <a:r>
              <a:rPr lang="en-IN" sz="2400" dirty="0" smtClean="0"/>
              <a:t/>
            </a:r>
            <a:br>
              <a:rPr lang="en-IN" sz="2400" dirty="0" smtClean="0"/>
            </a:br>
            <a:r>
              <a:rPr lang="en-US" sz="2000" dirty="0"/>
              <a:t>Phishing simulations and cybersecurity testing are powerful tools, but they must be conducted responsibly. Organizations must ensure that all activities comply with legal frameworks and ethical standards to avoid misuse, privacy violations, or legal consequences</a:t>
            </a:r>
            <a:r>
              <a:rPr lang="en-US" sz="2000" dirty="0" smtClean="0"/>
              <a:t>.</a:t>
            </a:r>
          </a:p>
          <a:p>
            <a:r>
              <a:rPr lang="en-IN" sz="2400" b="1" dirty="0"/>
              <a:t>Data Privacy </a:t>
            </a:r>
            <a:r>
              <a:rPr lang="en-IN" sz="2400" b="1" dirty="0" smtClean="0"/>
              <a:t>Laws</a:t>
            </a:r>
          </a:p>
          <a:p>
            <a:pPr marL="457200" indent="-457200">
              <a:buFont typeface="+mj-lt"/>
              <a:buAutoNum type="alphaLcParenR"/>
            </a:pPr>
            <a:r>
              <a:rPr lang="en-US" sz="2000" b="1" dirty="0"/>
              <a:t>General Data Protection Regulation (GDPR</a:t>
            </a:r>
            <a:r>
              <a:rPr lang="en-US" sz="2000" b="1" dirty="0" smtClean="0"/>
              <a:t>)</a:t>
            </a:r>
          </a:p>
          <a:p>
            <a:pPr marL="457200" indent="-457200">
              <a:buFont typeface="+mj-lt"/>
              <a:buAutoNum type="arabicPeriod"/>
            </a:pPr>
            <a:r>
              <a:rPr lang="en-US" sz="2000" dirty="0" smtClean="0"/>
              <a:t>Applies to organizations handling data of EU citizens </a:t>
            </a:r>
          </a:p>
          <a:p>
            <a:pPr marL="457200" indent="-457200">
              <a:buFont typeface="+mj-lt"/>
              <a:buAutoNum type="arabicPeriod"/>
            </a:pPr>
            <a:r>
              <a:rPr lang="en-US" sz="2000" dirty="0" smtClean="0"/>
              <a:t>Requires lawful. Transparent, and purpose- specific data collection </a:t>
            </a:r>
          </a:p>
          <a:p>
            <a:pPr marL="457200" indent="-457200">
              <a:buFont typeface="+mj-lt"/>
              <a:buAutoNum type="arabicPeriod"/>
            </a:pPr>
            <a:r>
              <a:rPr lang="en-US" sz="2000" dirty="0" smtClean="0"/>
              <a:t>Key principles: </a:t>
            </a:r>
            <a:br>
              <a:rPr lang="en-US" sz="2000" dirty="0" smtClean="0"/>
            </a:br>
            <a:r>
              <a:rPr lang="en-US" sz="2000" dirty="0" smtClean="0"/>
              <a:t>a)Data minimization</a:t>
            </a:r>
            <a:br>
              <a:rPr lang="en-US" sz="2000" dirty="0" smtClean="0"/>
            </a:br>
            <a:r>
              <a:rPr lang="en-US" sz="2000" dirty="0" smtClean="0"/>
              <a:t>b)User consent </a:t>
            </a:r>
            <a:br>
              <a:rPr lang="en-US" sz="2000" dirty="0" smtClean="0"/>
            </a:br>
            <a:r>
              <a:rPr lang="en-US" sz="2000" dirty="0" smtClean="0"/>
              <a:t>c)Right to access and erase data </a:t>
            </a:r>
            <a:br>
              <a:rPr lang="en-US" sz="2000" dirty="0" smtClean="0"/>
            </a:br>
            <a:endParaRPr lang="en-IN" sz="2000" b="1" dirty="0"/>
          </a:p>
        </p:txBody>
      </p:sp>
    </p:spTree>
    <p:extLst>
      <p:ext uri="{BB962C8B-B14F-4D97-AF65-F5344CB8AC3E}">
        <p14:creationId xmlns:p14="http://schemas.microsoft.com/office/powerpoint/2010/main" val="182482690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6674"/>
            <a:ext cx="10515600" cy="5920289"/>
          </a:xfrm>
        </p:spPr>
        <p:txBody>
          <a:bodyPr>
            <a:normAutofit/>
          </a:bodyPr>
          <a:lstStyle/>
          <a:p>
            <a:pPr marL="457200" indent="-457200">
              <a:buFont typeface="+mj-lt"/>
              <a:buAutoNum type="arabicPeriod" startAt="4"/>
            </a:pPr>
            <a:r>
              <a:rPr lang="en-US" sz="2000" dirty="0" smtClean="0"/>
              <a:t>In phishing simulations:</a:t>
            </a:r>
            <a:br>
              <a:rPr lang="en-US" sz="2000" dirty="0" smtClean="0"/>
            </a:br>
            <a:r>
              <a:rPr lang="en-US" sz="2000" dirty="0" smtClean="0"/>
              <a:t>a</a:t>
            </a:r>
            <a:r>
              <a:rPr lang="en-US" sz="2000" dirty="0"/>
              <a:t>) </a:t>
            </a:r>
            <a:r>
              <a:rPr lang="en-US" sz="2000" dirty="0" smtClean="0"/>
              <a:t>Personal </a:t>
            </a:r>
            <a:r>
              <a:rPr lang="en-US" sz="2000" dirty="0"/>
              <a:t>data must not be misused</a:t>
            </a:r>
            <a:br>
              <a:rPr lang="en-US" sz="2000" dirty="0"/>
            </a:br>
            <a:r>
              <a:rPr lang="en-US" sz="2000" dirty="0"/>
              <a:t>b) Employees should be informed about data handling policies</a:t>
            </a:r>
            <a:br>
              <a:rPr lang="en-US" sz="2000" dirty="0"/>
            </a:br>
            <a:r>
              <a:rPr lang="en-US" sz="2000" dirty="0"/>
              <a:t>c) Collected data must be securely stored and deleted after </a:t>
            </a:r>
            <a:r>
              <a:rPr lang="en-US" sz="2000" dirty="0" smtClean="0"/>
              <a:t>use</a:t>
            </a:r>
          </a:p>
          <a:p>
            <a:pPr marL="457200" indent="-457200">
              <a:buFont typeface="+mj-lt"/>
              <a:buAutoNum type="alphaLcParenR" startAt="2"/>
            </a:pPr>
            <a:r>
              <a:rPr lang="en-US" sz="2000" b="1" dirty="0" smtClean="0"/>
              <a:t>Information Technology Act 2000 (India)</a:t>
            </a:r>
          </a:p>
          <a:p>
            <a:pPr marL="457200" indent="-457200">
              <a:buFont typeface="+mj-lt"/>
              <a:buAutoNum type="arabicPeriod"/>
            </a:pPr>
            <a:r>
              <a:rPr lang="en-US" sz="2000" dirty="0"/>
              <a:t>Governs cybercrime and data protection in </a:t>
            </a:r>
            <a:r>
              <a:rPr lang="en-US" sz="2000" dirty="0" smtClean="0"/>
              <a:t>India</a:t>
            </a:r>
          </a:p>
          <a:p>
            <a:pPr marL="457200" indent="-457200">
              <a:buFont typeface="+mj-lt"/>
              <a:buAutoNum type="arabicPeriod"/>
            </a:pPr>
            <a:r>
              <a:rPr lang="en-IN" sz="2000" dirty="0"/>
              <a:t>Relevant sections</a:t>
            </a:r>
            <a:r>
              <a:rPr lang="en-IN" sz="2000" dirty="0" smtClean="0"/>
              <a:t>:</a:t>
            </a:r>
            <a:br>
              <a:rPr lang="en-IN" sz="2000" dirty="0" smtClean="0"/>
            </a:br>
            <a:r>
              <a:rPr lang="en-IN" sz="2000" dirty="0" smtClean="0"/>
              <a:t>a) </a:t>
            </a:r>
            <a:r>
              <a:rPr lang="en-US" sz="2000" dirty="0" smtClean="0"/>
              <a:t>Section </a:t>
            </a:r>
            <a:r>
              <a:rPr lang="en-US" sz="2000" dirty="0"/>
              <a:t>43: Unauthorized access and data </a:t>
            </a:r>
            <a:r>
              <a:rPr lang="en-US" sz="2000" dirty="0" smtClean="0"/>
              <a:t>damage</a:t>
            </a:r>
            <a:br>
              <a:rPr lang="en-US" sz="2000" dirty="0" smtClean="0"/>
            </a:br>
            <a:r>
              <a:rPr lang="en-US" sz="2000" dirty="0" smtClean="0"/>
              <a:t>b) </a:t>
            </a:r>
            <a:r>
              <a:rPr lang="en-IN" sz="2000" dirty="0" smtClean="0"/>
              <a:t>Section </a:t>
            </a:r>
            <a:r>
              <a:rPr lang="en-IN" sz="2000" dirty="0"/>
              <a:t>66: Computer-related </a:t>
            </a:r>
            <a:r>
              <a:rPr lang="en-IN" sz="2000" dirty="0" smtClean="0"/>
              <a:t>offenses</a:t>
            </a:r>
          </a:p>
          <a:p>
            <a:pPr marL="457200" indent="-457200">
              <a:buFont typeface="+mj-lt"/>
              <a:buAutoNum type="arabicPeriod"/>
            </a:pPr>
            <a:r>
              <a:rPr lang="en-IN" sz="2000" dirty="0"/>
              <a:t>Organizations must ensure</a:t>
            </a:r>
            <a:r>
              <a:rPr lang="en-IN" sz="2000" dirty="0" smtClean="0"/>
              <a:t>:</a:t>
            </a:r>
            <a:br>
              <a:rPr lang="en-IN" sz="2000" dirty="0" smtClean="0"/>
            </a:br>
            <a:r>
              <a:rPr lang="en-IN" sz="2000" dirty="0" smtClean="0"/>
              <a:t>a)</a:t>
            </a:r>
            <a:r>
              <a:rPr lang="en-US" sz="2000" dirty="0"/>
              <a:t> No unauthorized access during simulations</a:t>
            </a:r>
            <a:br>
              <a:rPr lang="en-US" sz="2000" dirty="0"/>
            </a:br>
            <a:r>
              <a:rPr lang="en-US" sz="2000" dirty="0"/>
              <a:t>b) No real harm or data theft occurs</a:t>
            </a:r>
            <a:br>
              <a:rPr lang="en-US" sz="2000" dirty="0"/>
            </a:br>
            <a:r>
              <a:rPr lang="en-US" sz="2000" dirty="0"/>
              <a:t>c) Activities remain within legal </a:t>
            </a:r>
            <a:r>
              <a:rPr lang="en-US" sz="2000" dirty="0" smtClean="0"/>
              <a:t>boundaries</a:t>
            </a:r>
          </a:p>
          <a:p>
            <a:r>
              <a:rPr lang="en-US" sz="2400" b="1" dirty="0" smtClean="0"/>
              <a:t>E</a:t>
            </a:r>
            <a:r>
              <a:rPr lang="en-IN" sz="2400" b="1" dirty="0"/>
              <a:t>thical </a:t>
            </a:r>
            <a:r>
              <a:rPr lang="en-IN" sz="2400" b="1" dirty="0" smtClean="0"/>
              <a:t>Hacking Boundaries</a:t>
            </a:r>
            <a:r>
              <a:rPr lang="en-IN" sz="2000" b="1" dirty="0" smtClean="0"/>
              <a:t/>
            </a:r>
            <a:br>
              <a:rPr lang="en-IN" sz="2000" b="1" dirty="0" smtClean="0"/>
            </a:br>
            <a:r>
              <a:rPr lang="en-US" sz="2000" dirty="0"/>
              <a:t>Ethical hacking must always stay within defined limits</a:t>
            </a:r>
            <a:r>
              <a:rPr lang="en-US" sz="2000" dirty="0" smtClean="0"/>
              <a:t>:</a:t>
            </a:r>
          </a:p>
          <a:p>
            <a:pPr marL="457200" indent="-457200">
              <a:buFont typeface="+mj-lt"/>
              <a:buAutoNum type="arabicPeriod"/>
            </a:pPr>
            <a:r>
              <a:rPr lang="en-US" sz="2000" dirty="0"/>
              <a:t>Only test systems that are explicitly </a:t>
            </a:r>
            <a:r>
              <a:rPr lang="en-US" sz="2000" dirty="0" smtClean="0"/>
              <a:t>authorized</a:t>
            </a:r>
          </a:p>
          <a:p>
            <a:pPr marL="457200" indent="-457200">
              <a:buFont typeface="+mj-lt"/>
              <a:buAutoNum type="arabicPeriod"/>
            </a:pPr>
            <a:r>
              <a:rPr lang="en-US" sz="2000" dirty="0"/>
              <a:t>Avoid accessing sensitive personal or financial data unnecessarily</a:t>
            </a:r>
            <a:endParaRPr lang="en-IN" sz="2000" b="1" dirty="0"/>
          </a:p>
        </p:txBody>
      </p:sp>
    </p:spTree>
    <p:extLst>
      <p:ext uri="{BB962C8B-B14F-4D97-AF65-F5344CB8AC3E}">
        <p14:creationId xmlns:p14="http://schemas.microsoft.com/office/powerpoint/2010/main" val="302546246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7305"/>
            <a:ext cx="10515600" cy="5951621"/>
          </a:xfrm>
        </p:spPr>
        <p:txBody>
          <a:bodyPr>
            <a:normAutofit/>
          </a:bodyPr>
          <a:lstStyle/>
          <a:p>
            <a:pPr marL="457200" indent="-457200">
              <a:buFont typeface="+mj-lt"/>
              <a:buAutoNum type="arabicPeriod" startAt="3"/>
            </a:pPr>
            <a:r>
              <a:rPr lang="en-US" sz="2000" dirty="0" smtClean="0"/>
              <a:t>Do </a:t>
            </a:r>
            <a:r>
              <a:rPr lang="en-US" sz="2000" dirty="0"/>
              <a:t>not exploit vulnerabilities beyond </a:t>
            </a:r>
            <a:r>
              <a:rPr lang="en-US" sz="2000" dirty="0" smtClean="0"/>
              <a:t>proof-of-concept</a:t>
            </a:r>
          </a:p>
          <a:p>
            <a:pPr marL="457200" indent="-457200">
              <a:buFont typeface="+mj-lt"/>
              <a:buAutoNum type="arabicPeriod" startAt="4"/>
            </a:pPr>
            <a:r>
              <a:rPr lang="en-IN" sz="2000" dirty="0"/>
              <a:t>Maintain confidentiality of </a:t>
            </a:r>
            <a:r>
              <a:rPr lang="en-IN" sz="2000" dirty="0" smtClean="0"/>
              <a:t>findings</a:t>
            </a:r>
          </a:p>
          <a:p>
            <a:pPr marL="0" indent="0">
              <a:buNone/>
            </a:pPr>
            <a:r>
              <a:rPr lang="en-US" sz="2000" dirty="0"/>
              <a:t>Crossing these boundaries can turn ethical testing into illegal activity</a:t>
            </a:r>
            <a:r>
              <a:rPr lang="en-US" sz="2000" dirty="0" smtClean="0"/>
              <a:t>.</a:t>
            </a:r>
          </a:p>
          <a:p>
            <a:pPr marL="0" indent="0">
              <a:buNone/>
            </a:pPr>
            <a:endParaRPr lang="en-US" sz="2000" dirty="0"/>
          </a:p>
          <a:p>
            <a:r>
              <a:rPr lang="en-IN" sz="2400" b="1" dirty="0"/>
              <a:t>Consent in Phishing </a:t>
            </a:r>
            <a:r>
              <a:rPr lang="en-IN" sz="2400" b="1" dirty="0" smtClean="0"/>
              <a:t>Simulation</a:t>
            </a:r>
            <a:r>
              <a:rPr lang="en-IN" sz="2000" b="1" dirty="0" smtClean="0"/>
              <a:t/>
            </a:r>
            <a:br>
              <a:rPr lang="en-IN" sz="2000" b="1" dirty="0" smtClean="0"/>
            </a:br>
            <a:r>
              <a:rPr lang="en-US" sz="2000" dirty="0"/>
              <a:t>Consent is critical in simulated phishing attacks</a:t>
            </a:r>
            <a:r>
              <a:rPr lang="en-US" sz="2000" dirty="0" smtClean="0"/>
              <a:t>:</a:t>
            </a:r>
          </a:p>
          <a:p>
            <a:pPr marL="457200" indent="-457200">
              <a:buFont typeface="+mj-lt"/>
              <a:buAutoNum type="arabicPeriod"/>
            </a:pPr>
            <a:r>
              <a:rPr lang="en-US" sz="2000" dirty="0"/>
              <a:t>Employees should be informed that simulations may occur (without revealing exact timing</a:t>
            </a:r>
            <a:r>
              <a:rPr lang="en-US" sz="2000" dirty="0" smtClean="0"/>
              <a:t>)</a:t>
            </a:r>
          </a:p>
          <a:p>
            <a:pPr marL="457200" indent="-457200">
              <a:buFont typeface="+mj-lt"/>
              <a:buAutoNum type="arabicPeriod"/>
            </a:pPr>
            <a:r>
              <a:rPr lang="en-IN" sz="2000" dirty="0"/>
              <a:t>Consent can be:</a:t>
            </a:r>
            <a:br>
              <a:rPr lang="en-IN" sz="2000" dirty="0"/>
            </a:br>
            <a:r>
              <a:rPr lang="en-IN" sz="2000" dirty="0"/>
              <a:t>a) Explicit (written agreement)</a:t>
            </a:r>
            <a:br>
              <a:rPr lang="en-IN" sz="2000" dirty="0"/>
            </a:br>
            <a:r>
              <a:rPr lang="en-IN" sz="2000" dirty="0"/>
              <a:t>b) Implicit (organizational policy acceptance</a:t>
            </a:r>
            <a:r>
              <a:rPr lang="en-IN" sz="2000" dirty="0" smtClean="0"/>
              <a:t>)</a:t>
            </a:r>
          </a:p>
          <a:p>
            <a:pPr marL="457200" indent="-457200">
              <a:buFont typeface="+mj-lt"/>
              <a:buAutoNum type="arabicPeriod"/>
            </a:pPr>
            <a:r>
              <a:rPr lang="en-IN" sz="2000" dirty="0"/>
              <a:t>Simulations must:</a:t>
            </a:r>
            <a:br>
              <a:rPr lang="en-IN" sz="2000" dirty="0"/>
            </a:br>
            <a:r>
              <a:rPr lang="en-IN" sz="2000" dirty="0"/>
              <a:t>a) Avoid emotional manipulation or </a:t>
            </a:r>
            <a:r>
              <a:rPr lang="en-IN" sz="2000" dirty="0" smtClean="0"/>
              <a:t>distress</a:t>
            </a:r>
            <a:br>
              <a:rPr lang="en-IN" sz="2000" dirty="0" smtClean="0"/>
            </a:br>
            <a:r>
              <a:rPr lang="en-IN" sz="2000" dirty="0" smtClean="0"/>
              <a:t>b) </a:t>
            </a:r>
            <a:r>
              <a:rPr lang="en-US" sz="2000" dirty="0"/>
              <a:t>Not target sensitive topics (health, salary, layoffs, etc</a:t>
            </a:r>
            <a:r>
              <a:rPr lang="en-US" sz="2000" dirty="0" smtClean="0"/>
              <a:t>.)</a:t>
            </a:r>
            <a:br>
              <a:rPr lang="en-US" sz="2000" dirty="0" smtClean="0"/>
            </a:br>
            <a:r>
              <a:rPr lang="en-US" sz="2000" dirty="0" smtClean="0"/>
              <a:t>c</a:t>
            </a:r>
            <a:r>
              <a:rPr lang="en-US" sz="2000" dirty="0"/>
              <a:t>) Be used only for training purposes</a:t>
            </a:r>
            <a:br>
              <a:rPr lang="en-US" sz="2000" dirty="0"/>
            </a:br>
            <a:endParaRPr lang="en-IN" sz="2000" b="1" dirty="0"/>
          </a:p>
        </p:txBody>
      </p:sp>
    </p:spTree>
    <p:extLst>
      <p:ext uri="{BB962C8B-B14F-4D97-AF65-F5344CB8AC3E}">
        <p14:creationId xmlns:p14="http://schemas.microsoft.com/office/powerpoint/2010/main" val="379786734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6884"/>
            <a:ext cx="10515600" cy="5840079"/>
          </a:xfrm>
        </p:spPr>
        <p:txBody>
          <a:bodyPr>
            <a:noAutofit/>
          </a:bodyPr>
          <a:lstStyle/>
          <a:p>
            <a:r>
              <a:rPr lang="en-IN" sz="2400" b="1" dirty="0"/>
              <a:t>Responsible </a:t>
            </a:r>
            <a:r>
              <a:rPr lang="en-IN" sz="2400" b="1" dirty="0" smtClean="0"/>
              <a:t>Disclosure</a:t>
            </a:r>
            <a:br>
              <a:rPr lang="en-IN" sz="2400" b="1" dirty="0" smtClean="0"/>
            </a:br>
            <a:r>
              <a:rPr lang="en-IN" sz="2000" dirty="0"/>
              <a:t>When vulnerabilities are identified</a:t>
            </a:r>
            <a:r>
              <a:rPr lang="en-IN" sz="2000" dirty="0" smtClean="0"/>
              <a:t>:</a:t>
            </a:r>
          </a:p>
          <a:p>
            <a:pPr marL="457200" indent="-457200">
              <a:buFont typeface="+mj-lt"/>
              <a:buAutoNum type="arabicPeriod"/>
            </a:pPr>
            <a:r>
              <a:rPr lang="en-US" sz="2000" dirty="0"/>
              <a:t>Report findings to the concerned organization </a:t>
            </a:r>
            <a:r>
              <a:rPr lang="en-US" sz="2000" dirty="0" smtClean="0"/>
              <a:t>immediately</a:t>
            </a:r>
          </a:p>
          <a:p>
            <a:pPr marL="457200" indent="-457200">
              <a:buFont typeface="+mj-lt"/>
              <a:buAutoNum type="arabicPeriod"/>
            </a:pPr>
            <a:r>
              <a:rPr lang="en-US" sz="2000" dirty="0"/>
              <a:t>Do not publicly disclose vulnerabilities before they are </a:t>
            </a:r>
            <a:r>
              <a:rPr lang="en-US" sz="2000" dirty="0" smtClean="0"/>
              <a:t>fixed</a:t>
            </a:r>
          </a:p>
          <a:p>
            <a:pPr marL="457200" indent="-457200">
              <a:buFont typeface="+mj-lt"/>
              <a:buAutoNum type="arabicPeriod"/>
            </a:pPr>
            <a:r>
              <a:rPr lang="en-IN" sz="2000" dirty="0"/>
              <a:t>Provide</a:t>
            </a:r>
            <a:r>
              <a:rPr lang="en-IN" sz="2000" dirty="0" smtClean="0"/>
              <a:t>:</a:t>
            </a:r>
            <a:br>
              <a:rPr lang="en-IN" sz="2000" dirty="0" smtClean="0"/>
            </a:br>
            <a:r>
              <a:rPr lang="en-IN" sz="2000" dirty="0" smtClean="0"/>
              <a:t>a)</a:t>
            </a:r>
            <a:r>
              <a:rPr lang="en-US" sz="2000" dirty="0"/>
              <a:t> Clear description of the </a:t>
            </a:r>
            <a:r>
              <a:rPr lang="en-US" sz="2000" dirty="0" smtClean="0"/>
              <a:t>issue</a:t>
            </a:r>
            <a:br>
              <a:rPr lang="en-US" sz="2000" dirty="0" smtClean="0"/>
            </a:br>
            <a:r>
              <a:rPr lang="en-US" sz="2000" dirty="0" smtClean="0"/>
              <a:t>b) </a:t>
            </a:r>
            <a:r>
              <a:rPr lang="en-IN" sz="2000" dirty="0"/>
              <a:t>Steps to reproduce</a:t>
            </a:r>
            <a:br>
              <a:rPr lang="en-IN" sz="2000" dirty="0"/>
            </a:br>
            <a:r>
              <a:rPr lang="en-IN" sz="2000" dirty="0"/>
              <a:t>c) Suggested </a:t>
            </a:r>
            <a:r>
              <a:rPr lang="en-IN" sz="2000" dirty="0" smtClean="0"/>
              <a:t>remediation</a:t>
            </a:r>
          </a:p>
          <a:p>
            <a:pPr marL="0" indent="0">
              <a:buNone/>
            </a:pPr>
            <a:r>
              <a:rPr lang="en-US" sz="2000" dirty="0"/>
              <a:t>Responsible disclosure ensures security improvement without exposing systems to further risk</a:t>
            </a:r>
            <a:r>
              <a:rPr lang="en-US" sz="2000" dirty="0" smtClean="0"/>
              <a:t>.</a:t>
            </a:r>
          </a:p>
          <a:p>
            <a:r>
              <a:rPr lang="en-IN" sz="2400" b="1" dirty="0"/>
              <a:t>Avoiding Harm &amp; Maintaining </a:t>
            </a:r>
            <a:r>
              <a:rPr lang="en-IN" sz="2400" b="1" dirty="0" smtClean="0"/>
              <a:t>Trust</a:t>
            </a:r>
            <a:br>
              <a:rPr lang="en-IN" sz="2400" b="1" dirty="0" smtClean="0"/>
            </a:br>
            <a:r>
              <a:rPr lang="en-US" sz="2000" dirty="0"/>
              <a:t>Ethical considerations go beyond legal compliance</a:t>
            </a:r>
            <a:r>
              <a:rPr lang="en-US" sz="2000" dirty="0" smtClean="0"/>
              <a:t>:</a:t>
            </a:r>
          </a:p>
          <a:p>
            <a:pPr marL="457200" indent="-457200">
              <a:buFont typeface="+mj-lt"/>
              <a:buAutoNum type="arabicPeriod"/>
            </a:pPr>
            <a:r>
              <a:rPr lang="en-US" sz="2000" dirty="0"/>
              <a:t>Do not embarrass or publicly shame employees who fall for </a:t>
            </a:r>
            <a:r>
              <a:rPr lang="en-US" sz="2000" dirty="0" smtClean="0"/>
              <a:t>phishing</a:t>
            </a:r>
          </a:p>
          <a:p>
            <a:pPr marL="457200" indent="-457200">
              <a:buFont typeface="+mj-lt"/>
              <a:buAutoNum type="arabicPeriod"/>
            </a:pPr>
            <a:r>
              <a:rPr lang="en-US" sz="2000" dirty="0"/>
              <a:t>Use results for education, not </a:t>
            </a:r>
            <a:r>
              <a:rPr lang="en-US" sz="2000" dirty="0" smtClean="0"/>
              <a:t>punishment</a:t>
            </a:r>
          </a:p>
          <a:p>
            <a:pPr marL="457200" indent="-457200">
              <a:buFont typeface="+mj-lt"/>
              <a:buAutoNum type="arabicPeriod"/>
            </a:pPr>
            <a:r>
              <a:rPr lang="en-IN" sz="2000" dirty="0"/>
              <a:t>Ensure transparency with </a:t>
            </a:r>
            <a:r>
              <a:rPr lang="en-IN" sz="2000" dirty="0" smtClean="0"/>
              <a:t>stakeholders</a:t>
            </a:r>
          </a:p>
          <a:p>
            <a:pPr marL="457200" indent="-457200">
              <a:buFont typeface="+mj-lt"/>
              <a:buAutoNum type="arabicPeriod"/>
            </a:pPr>
            <a:r>
              <a:rPr lang="en-US" sz="2000" dirty="0"/>
              <a:t>Protect collected data from </a:t>
            </a:r>
            <a:r>
              <a:rPr lang="en-US" sz="2000" dirty="0" smtClean="0"/>
              <a:t>misuse</a:t>
            </a:r>
          </a:p>
          <a:p>
            <a:pPr marL="0" indent="0">
              <a:buNone/>
            </a:pPr>
            <a:r>
              <a:rPr lang="en-US" sz="2000" dirty="0"/>
              <a:t>Maintaining trust is essential for long-term security culture.</a:t>
            </a:r>
          </a:p>
          <a:p>
            <a:pPr marL="0" indent="0">
              <a:buNone/>
            </a:pPr>
            <a:endParaRPr lang="en-IN" sz="2000" b="1" dirty="0"/>
          </a:p>
        </p:txBody>
      </p:sp>
    </p:spTree>
    <p:extLst>
      <p:ext uri="{BB962C8B-B14F-4D97-AF65-F5344CB8AC3E}">
        <p14:creationId xmlns:p14="http://schemas.microsoft.com/office/powerpoint/2010/main" val="275116392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52926"/>
            <a:ext cx="10515600" cy="5824037"/>
          </a:xfrm>
        </p:spPr>
        <p:txBody>
          <a:bodyPr>
            <a:normAutofit/>
          </a:bodyPr>
          <a:lstStyle/>
          <a:p>
            <a:r>
              <a:rPr lang="en-IN" sz="2400" b="1" dirty="0"/>
              <a:t>Organizational Policies &amp; </a:t>
            </a:r>
            <a:r>
              <a:rPr lang="en-IN" sz="2400" b="1" dirty="0" smtClean="0"/>
              <a:t>Compliance</a:t>
            </a:r>
            <a:br>
              <a:rPr lang="en-IN" sz="2400" b="1" dirty="0" smtClean="0"/>
            </a:br>
            <a:r>
              <a:rPr lang="en-IN" sz="2000" dirty="0"/>
              <a:t>Organizations should</a:t>
            </a:r>
            <a:r>
              <a:rPr lang="en-IN" sz="2000" dirty="0" smtClean="0"/>
              <a:t>:</a:t>
            </a:r>
          </a:p>
          <a:p>
            <a:pPr marL="457200" indent="-457200">
              <a:buFont typeface="+mj-lt"/>
              <a:buAutoNum type="arabicPeriod"/>
            </a:pPr>
            <a:r>
              <a:rPr lang="en-US" sz="2000" dirty="0"/>
              <a:t>Define clear cybersecurity and ethical testing </a:t>
            </a:r>
            <a:r>
              <a:rPr lang="en-US" sz="2000" dirty="0" smtClean="0"/>
              <a:t>policies</a:t>
            </a:r>
          </a:p>
          <a:p>
            <a:pPr marL="457200" indent="-457200">
              <a:buFont typeface="+mj-lt"/>
              <a:buAutoNum type="arabicPeriod"/>
            </a:pPr>
            <a:r>
              <a:rPr lang="en-US" sz="2000" dirty="0"/>
              <a:t>Align with global standards (ISO 27001, NIST guidelines</a:t>
            </a:r>
            <a:r>
              <a:rPr lang="en-US" sz="2000" dirty="0" smtClean="0"/>
              <a:t>)</a:t>
            </a:r>
          </a:p>
          <a:p>
            <a:pPr marL="457200" indent="-457200">
              <a:buFont typeface="+mj-lt"/>
              <a:buAutoNum type="arabicPeriod"/>
            </a:pPr>
            <a:r>
              <a:rPr lang="en-US" sz="2000" dirty="0"/>
              <a:t>Maintain audit trails of all testing </a:t>
            </a:r>
            <a:r>
              <a:rPr lang="en-US" sz="2000" dirty="0" smtClean="0"/>
              <a:t>activities</a:t>
            </a:r>
          </a:p>
          <a:p>
            <a:pPr marL="457200" indent="-457200">
              <a:buFont typeface="+mj-lt"/>
              <a:buAutoNum type="arabicPeriod"/>
            </a:pPr>
            <a:r>
              <a:rPr lang="en-US" sz="2000" dirty="0"/>
              <a:t>Regularly review and update </a:t>
            </a:r>
            <a:r>
              <a:rPr lang="en-US" sz="2000" dirty="0" smtClean="0"/>
              <a:t>policies</a:t>
            </a:r>
          </a:p>
          <a:p>
            <a:r>
              <a:rPr lang="en-US" sz="2400" b="1" dirty="0" smtClean="0"/>
              <a:t>Conclusion</a:t>
            </a:r>
          </a:p>
          <a:p>
            <a:pPr marL="0" indent="0">
              <a:buNone/>
            </a:pPr>
            <a:r>
              <a:rPr lang="en-US" sz="2000" dirty="0"/>
              <a:t>Ethical and legal compliance is the foundation of any cybersecurity activity. While phishing simulations help strengthen security posture, they must be conducted responsibly, respecting privacy, consent, and legal boundaries.</a:t>
            </a:r>
          </a:p>
          <a:p>
            <a:pPr marL="0" indent="0">
              <a:buNone/>
            </a:pPr>
            <a:r>
              <a:rPr lang="en-US" sz="2000" dirty="0"/>
              <a:t>A balance between </a:t>
            </a:r>
            <a:r>
              <a:rPr lang="en-US" sz="2000" b="1" dirty="0"/>
              <a:t>security testing and ethical responsibility</a:t>
            </a:r>
            <a:r>
              <a:rPr lang="en-US" sz="2000" dirty="0"/>
              <a:t> ensures both protection and trust within the organization.</a:t>
            </a:r>
          </a:p>
          <a:p>
            <a:pPr marL="0" indent="0">
              <a:buNone/>
            </a:pPr>
            <a:r>
              <a:rPr lang="en-US" sz="2400" b="1" dirty="0" smtClean="0"/>
              <a:t/>
            </a:r>
            <a:br>
              <a:rPr lang="en-US" sz="2400" b="1" dirty="0" smtClean="0"/>
            </a:br>
            <a:r>
              <a:rPr lang="en-IN" sz="2000" dirty="0" smtClean="0"/>
              <a:t/>
            </a:r>
            <a:br>
              <a:rPr lang="en-IN" sz="2000" dirty="0" smtClean="0"/>
            </a:br>
            <a:endParaRPr lang="en-IN" sz="2000" b="1" dirty="0"/>
          </a:p>
        </p:txBody>
      </p:sp>
    </p:spTree>
    <p:extLst>
      <p:ext uri="{BB962C8B-B14F-4D97-AF65-F5344CB8AC3E}">
        <p14:creationId xmlns:p14="http://schemas.microsoft.com/office/powerpoint/2010/main" val="419340520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b="1" dirty="0"/>
              <a:t>Conclusion</a:t>
            </a:r>
          </a:p>
        </p:txBody>
      </p:sp>
      <p:sp>
        <p:nvSpPr>
          <p:cNvPr id="3" name="Content Placeholder 2"/>
          <p:cNvSpPr>
            <a:spLocks noGrp="1"/>
          </p:cNvSpPr>
          <p:nvPr>
            <p:ph idx="1"/>
          </p:nvPr>
        </p:nvSpPr>
        <p:spPr/>
        <p:txBody>
          <a:bodyPr>
            <a:noAutofit/>
          </a:bodyPr>
          <a:lstStyle/>
          <a:p>
            <a:pPr marL="0" indent="0">
              <a:buNone/>
            </a:pPr>
            <a:r>
              <a:rPr lang="en-US" sz="2000" dirty="0"/>
              <a:t>Phishing attacks continue to be one of the most prevalent and dangerous cyber threats, targeting individuals and organizations alike. This report examined a real-world phishing incident, analyzed the techniques used by attackers, and demonstrated how such attacks can be simulated in a controlled environment for educational purposes.</a:t>
            </a:r>
          </a:p>
          <a:p>
            <a:pPr marL="0" indent="0">
              <a:buNone/>
            </a:pPr>
            <a:r>
              <a:rPr lang="en-US" sz="2000" dirty="0"/>
              <a:t>The study highlighted that phishing is not purely a technical issue but a </a:t>
            </a:r>
            <a:r>
              <a:rPr lang="en-US" sz="2000" b="1" dirty="0"/>
              <a:t>human-centric vulnerability</a:t>
            </a:r>
            <a:r>
              <a:rPr lang="en-US" sz="2000" dirty="0"/>
              <a:t>, where attackers exploit trust, urgency, and lack of awareness. Even organizations with strong technical defenses can be compromised if employees are not adequately trained.</a:t>
            </a:r>
          </a:p>
          <a:p>
            <a:pPr marL="0" indent="0">
              <a:buNone/>
            </a:pPr>
            <a:r>
              <a:rPr lang="en-US" sz="2000" dirty="0"/>
              <a:t>Through the simulation, it became evident that:</a:t>
            </a:r>
          </a:p>
          <a:p>
            <a:r>
              <a:rPr lang="en-US" sz="2000" dirty="0"/>
              <a:t>Attackers rely heavily on social engineering tactics </a:t>
            </a:r>
          </a:p>
          <a:p>
            <a:r>
              <a:rPr lang="en-US" sz="2000" dirty="0"/>
              <a:t>Small mistakes, such as clicking a malicious link, can lead to major data breaches </a:t>
            </a:r>
          </a:p>
          <a:p>
            <a:r>
              <a:rPr lang="en-US" sz="2000" dirty="0"/>
              <a:t>Detection and response time play a critical role in minimizing damage </a:t>
            </a:r>
          </a:p>
          <a:p>
            <a:endParaRPr lang="en-IN" sz="2000" dirty="0"/>
          </a:p>
        </p:txBody>
      </p:sp>
    </p:spTree>
    <p:extLst>
      <p:ext uri="{BB962C8B-B14F-4D97-AF65-F5344CB8AC3E}">
        <p14:creationId xmlns:p14="http://schemas.microsoft.com/office/powerpoint/2010/main" val="360951786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22031"/>
            <a:ext cx="10515600" cy="5754932"/>
          </a:xfrm>
        </p:spPr>
        <p:txBody>
          <a:bodyPr>
            <a:normAutofit fontScale="92500"/>
          </a:bodyPr>
          <a:lstStyle/>
          <a:p>
            <a:pPr marL="0" indent="0">
              <a:buNone/>
            </a:pPr>
            <a:r>
              <a:rPr lang="en-US" sz="2200" dirty="0"/>
              <a:t>The report also emphasized the importance of implementing a </a:t>
            </a:r>
            <a:r>
              <a:rPr lang="en-US" sz="2200" b="1" dirty="0"/>
              <a:t>multi-layered security approach</a:t>
            </a:r>
            <a:r>
              <a:rPr lang="en-US" sz="2200" dirty="0"/>
              <a:t>, including:</a:t>
            </a:r>
          </a:p>
          <a:p>
            <a:r>
              <a:rPr lang="en-US" sz="2200" dirty="0"/>
              <a:t>Employee awareness programs </a:t>
            </a:r>
          </a:p>
          <a:p>
            <a:r>
              <a:rPr lang="en-US" sz="2200" dirty="0"/>
              <a:t>Strong authentication mechanisms </a:t>
            </a:r>
          </a:p>
          <a:p>
            <a:r>
              <a:rPr lang="en-US" sz="2200" dirty="0"/>
              <a:t>Advanced email filtering systems </a:t>
            </a:r>
          </a:p>
          <a:p>
            <a:r>
              <a:rPr lang="en-US" sz="2200" dirty="0"/>
              <a:t>Continuous monitoring and incident response </a:t>
            </a:r>
          </a:p>
          <a:p>
            <a:pPr marL="0" indent="0">
              <a:buNone/>
            </a:pPr>
            <a:r>
              <a:rPr lang="en-US" sz="2200" dirty="0"/>
              <a:t>Additionally, ethical and legal considerations play a crucial role in ensuring that cybersecurity practices remain responsible and compliant with laws. Respecting user privacy, obtaining consent, and following responsible disclosure practices are essential for maintaining trust and integrity.</a:t>
            </a:r>
          </a:p>
          <a:p>
            <a:pPr marL="0" indent="0">
              <a:buNone/>
            </a:pPr>
            <a:r>
              <a:rPr lang="en-US" sz="2200" dirty="0"/>
              <a:t>In conclusion, while phishing attacks cannot be entirely eliminated, their success rate can be significantly reduced through a combination of:</a:t>
            </a:r>
          </a:p>
          <a:p>
            <a:r>
              <a:rPr lang="en-US" sz="2200" dirty="0"/>
              <a:t>Technology </a:t>
            </a:r>
          </a:p>
          <a:p>
            <a:r>
              <a:rPr lang="en-US" sz="2200" dirty="0"/>
              <a:t>Awareness </a:t>
            </a:r>
          </a:p>
          <a:p>
            <a:r>
              <a:rPr lang="en-US" sz="2200" dirty="0"/>
              <a:t>Policy enforcement </a:t>
            </a:r>
          </a:p>
          <a:p>
            <a:pPr marL="0" indent="0">
              <a:buNone/>
            </a:pPr>
            <a:r>
              <a:rPr lang="en-US" sz="2200" dirty="0"/>
              <a:t>Organizations that adopt a proactive and security-first mindset will be better equipped to defend against evolving phishing threats.</a:t>
            </a:r>
          </a:p>
          <a:p>
            <a:endParaRPr lang="en-IN" dirty="0"/>
          </a:p>
        </p:txBody>
      </p:sp>
    </p:spTree>
    <p:extLst>
      <p:ext uri="{BB962C8B-B14F-4D97-AF65-F5344CB8AC3E}">
        <p14:creationId xmlns:p14="http://schemas.microsoft.com/office/powerpoint/2010/main" val="227175524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b="1" dirty="0"/>
              <a:t>References</a:t>
            </a:r>
          </a:p>
        </p:txBody>
      </p:sp>
      <p:sp>
        <p:nvSpPr>
          <p:cNvPr id="3" name="Content Placeholder 2"/>
          <p:cNvSpPr>
            <a:spLocks noGrp="1"/>
          </p:cNvSpPr>
          <p:nvPr>
            <p:ph idx="1"/>
          </p:nvPr>
        </p:nvSpPr>
        <p:spPr/>
        <p:txBody>
          <a:bodyPr>
            <a:normAutofit/>
          </a:bodyPr>
          <a:lstStyle/>
          <a:p>
            <a:r>
              <a:rPr lang="en-US" sz="2000" b="1" dirty="0"/>
              <a:t>European Union. (2018). </a:t>
            </a:r>
            <a:r>
              <a:rPr lang="en-US" sz="2000" i="1" dirty="0"/>
              <a:t>General Data Protection Regulation (GDPR).</a:t>
            </a:r>
            <a:r>
              <a:rPr lang="en-US" sz="2000" dirty="0"/>
              <a:t> </a:t>
            </a:r>
          </a:p>
          <a:p>
            <a:r>
              <a:rPr lang="en-US" sz="2000" b="1" dirty="0"/>
              <a:t>Government of India. (2000). </a:t>
            </a:r>
            <a:r>
              <a:rPr lang="en-US" sz="2000" i="1" dirty="0"/>
              <a:t>Information Technology Act, 2000.</a:t>
            </a:r>
            <a:r>
              <a:rPr lang="en-US" sz="2000" dirty="0"/>
              <a:t> </a:t>
            </a:r>
          </a:p>
          <a:p>
            <a:r>
              <a:rPr lang="en-US" sz="2000" b="1" dirty="0"/>
              <a:t>OWASP Foundation.</a:t>
            </a:r>
            <a:r>
              <a:rPr lang="en-US" sz="2000" dirty="0"/>
              <a:t> </a:t>
            </a:r>
            <a:r>
              <a:rPr lang="en-US" sz="2000" i="1" dirty="0"/>
              <a:t>Phishing Attacks and Prevention Guidelines.</a:t>
            </a:r>
            <a:r>
              <a:rPr lang="en-US" sz="2000" dirty="0"/>
              <a:t> </a:t>
            </a:r>
          </a:p>
          <a:p>
            <a:r>
              <a:rPr lang="en-US" sz="2000" b="1" dirty="0"/>
              <a:t>National Institute of Standards and Technology (NIST). </a:t>
            </a:r>
            <a:r>
              <a:rPr lang="en-US" sz="2000" i="1" dirty="0"/>
              <a:t>Cybersecurity Framework.</a:t>
            </a:r>
            <a:r>
              <a:rPr lang="en-US" sz="2000" dirty="0"/>
              <a:t> </a:t>
            </a:r>
          </a:p>
          <a:p>
            <a:r>
              <a:rPr lang="en-US" sz="2000" b="1" dirty="0"/>
              <a:t>SANS Institute</a:t>
            </a:r>
            <a:r>
              <a:rPr lang="en-US" sz="2000" dirty="0"/>
              <a:t>. </a:t>
            </a:r>
            <a:r>
              <a:rPr lang="en-US" sz="2000" i="1" dirty="0"/>
              <a:t>Security Awareness and Phishing Reports.</a:t>
            </a:r>
            <a:r>
              <a:rPr lang="en-US" sz="2000" dirty="0"/>
              <a:t> </a:t>
            </a:r>
          </a:p>
          <a:p>
            <a:r>
              <a:rPr lang="en-US" sz="2000" b="1" dirty="0"/>
              <a:t>Microsoft.</a:t>
            </a:r>
            <a:r>
              <a:rPr lang="en-US" sz="2000" dirty="0"/>
              <a:t> </a:t>
            </a:r>
            <a:r>
              <a:rPr lang="en-US" sz="2000" i="1" dirty="0"/>
              <a:t>Security Intelligence Reports.</a:t>
            </a:r>
            <a:r>
              <a:rPr lang="en-US" sz="2000" dirty="0"/>
              <a:t> </a:t>
            </a:r>
          </a:p>
          <a:p>
            <a:r>
              <a:rPr lang="en-US" sz="2000" b="1" dirty="0"/>
              <a:t>Cisco.</a:t>
            </a:r>
            <a:r>
              <a:rPr lang="en-US" sz="2000" dirty="0"/>
              <a:t> </a:t>
            </a:r>
            <a:r>
              <a:rPr lang="en-US" sz="2000" i="1" dirty="0"/>
              <a:t>Annual Cybersecurity Reports.</a:t>
            </a:r>
            <a:r>
              <a:rPr lang="en-US" sz="2000" dirty="0"/>
              <a:t> </a:t>
            </a:r>
          </a:p>
          <a:p>
            <a:r>
              <a:rPr lang="en-US" sz="2000" b="1" dirty="0"/>
              <a:t>Kaspersky. </a:t>
            </a:r>
            <a:r>
              <a:rPr lang="en-US" sz="2000" i="1" dirty="0"/>
              <a:t>Phishing and Threat Landscape Reports.</a:t>
            </a:r>
            <a:r>
              <a:rPr lang="en-US" sz="2000" dirty="0"/>
              <a:t> </a:t>
            </a:r>
          </a:p>
          <a:p>
            <a:r>
              <a:rPr lang="en-US" sz="2000" b="1" dirty="0"/>
              <a:t>IBM.</a:t>
            </a:r>
            <a:r>
              <a:rPr lang="en-US" sz="2000" dirty="0"/>
              <a:t> </a:t>
            </a:r>
            <a:r>
              <a:rPr lang="en-US" sz="2000" i="1" dirty="0"/>
              <a:t>Cost of a Data Breach Report.</a:t>
            </a:r>
            <a:r>
              <a:rPr lang="en-US" sz="2000" dirty="0"/>
              <a:t> </a:t>
            </a:r>
          </a:p>
          <a:p>
            <a:r>
              <a:rPr lang="en-US" sz="2000" b="1" dirty="0"/>
              <a:t>Google.</a:t>
            </a:r>
            <a:r>
              <a:rPr lang="en-US" sz="2000" dirty="0"/>
              <a:t> </a:t>
            </a:r>
            <a:r>
              <a:rPr lang="en-US" sz="2000" i="1" dirty="0"/>
              <a:t>Safe Browsing &amp; Anti-Phishing Research.</a:t>
            </a:r>
            <a:r>
              <a:rPr lang="en-US" sz="2000" dirty="0"/>
              <a:t> </a:t>
            </a:r>
          </a:p>
          <a:p>
            <a:endParaRPr lang="en-IN" dirty="0"/>
          </a:p>
        </p:txBody>
      </p:sp>
    </p:spTree>
    <p:extLst>
      <p:ext uri="{BB962C8B-B14F-4D97-AF65-F5344CB8AC3E}">
        <p14:creationId xmlns:p14="http://schemas.microsoft.com/office/powerpoint/2010/main" val="348464715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884</TotalTime>
  <Words>2618</Words>
  <Application>Microsoft Office PowerPoint</Application>
  <PresentationFormat>Widescreen</PresentationFormat>
  <Paragraphs>298</Paragraphs>
  <Slides>33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Calibri Light</vt:lpstr>
      <vt:lpstr>Symbol</vt:lpstr>
      <vt:lpstr>Wingdings</vt:lpstr>
      <vt:lpstr>Office Theme</vt:lpstr>
      <vt:lpstr>Research Project on Phishing Attack Incident that led to sensitive information being exposed.</vt:lpstr>
      <vt:lpstr>Table of Content</vt:lpstr>
      <vt:lpstr>Introduction</vt:lpstr>
      <vt:lpstr>PowerPoint Presentation</vt:lpstr>
      <vt:lpstr>Objective of the Project</vt:lpstr>
      <vt:lpstr>Incident Overview</vt:lpstr>
      <vt:lpstr>PowerPoint Presentation</vt:lpstr>
      <vt:lpstr>PowerPoint Presentation</vt:lpstr>
      <vt:lpstr>Impact Assessment</vt:lpstr>
      <vt:lpstr>PowerPoint Presentation</vt:lpstr>
      <vt:lpstr>PowerPoint Presentation</vt:lpstr>
      <vt:lpstr>Response and Mitigation</vt:lpstr>
      <vt:lpstr>PowerPoint Presentation</vt:lpstr>
      <vt:lpstr>PowerPoint Presentation</vt:lpstr>
      <vt:lpstr>PowerPoint Presentation</vt:lpstr>
      <vt:lpstr>PowerPoint Presentation</vt:lpstr>
      <vt:lpstr>Simulation of Phishing Technique</vt:lpstr>
      <vt:lpstr>PowerPoint Presentation</vt:lpstr>
      <vt:lpstr>PowerPoint Presentation</vt:lpstr>
      <vt:lpstr>PowerPoint Presentation</vt:lpstr>
      <vt:lpstr>PowerPoint Presentation</vt:lpstr>
      <vt:lpstr>Recommendations &amp; Future Prevention</vt:lpstr>
      <vt:lpstr>PowerPoint Presentation</vt:lpstr>
      <vt:lpstr>PowerPoint Presentation</vt:lpstr>
      <vt:lpstr>PowerPoint Presentation</vt:lpstr>
      <vt:lpstr>Ethical &amp; Legal Considerations</vt:lpstr>
      <vt:lpstr>PowerPoint Presentation</vt:lpstr>
      <vt:lpstr>PowerPoint Presentation</vt:lpstr>
      <vt:lpstr>PowerPoint Presentation</vt:lpstr>
      <vt:lpstr>PowerPoint Presentation</vt:lpstr>
      <vt:lpstr>Conclusion</vt:lpstr>
      <vt:lpstr>PowerPoint Presentation</vt:lpstr>
      <vt:lpstr>References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Project on Phishing Attack Incident that led to sensitive information being exposed.</dc:title>
  <dc:creator>Aadi Mathur</dc:creator>
  <cp:lastModifiedBy>Aadi Mathur</cp:lastModifiedBy>
  <cp:revision>29</cp:revision>
  <dcterms:created xsi:type="dcterms:W3CDTF">2026-04-09T05:32:39Z</dcterms:created>
  <dcterms:modified xsi:type="dcterms:W3CDTF">2026-04-15T07:01:50Z</dcterms:modified>
</cp:coreProperties>
</file>